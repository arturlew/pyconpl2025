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3" r:id="rId1"/>
  </p:sldMasterIdLst>
  <p:sldIdLst>
    <p:sldId id="256" r:id="rId2"/>
    <p:sldId id="257" r:id="rId3"/>
    <p:sldId id="268" r:id="rId4"/>
    <p:sldId id="273" r:id="rId5"/>
    <p:sldId id="269" r:id="rId6"/>
    <p:sldId id="270" r:id="rId7"/>
    <p:sldId id="271" r:id="rId8"/>
    <p:sldId id="272" r:id="rId9"/>
    <p:sldId id="274" r:id="rId10"/>
    <p:sldId id="259" r:id="rId11"/>
    <p:sldId id="276" r:id="rId12"/>
    <p:sldId id="260" r:id="rId13"/>
    <p:sldId id="262" r:id="rId14"/>
    <p:sldId id="261" r:id="rId15"/>
    <p:sldId id="263" r:id="rId16"/>
    <p:sldId id="264" r:id="rId17"/>
    <p:sldId id="281" r:id="rId18"/>
    <p:sldId id="277" r:id="rId19"/>
    <p:sldId id="278" r:id="rId20"/>
    <p:sldId id="279" r:id="rId21"/>
    <p:sldId id="280" r:id="rId22"/>
    <p:sldId id="265" r:id="rId23"/>
    <p:sldId id="266" r:id="rId24"/>
    <p:sldId id="267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3786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F28D4F-5AAB-4B09-B283-E382933D1F59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2CDC2EC-8F59-46AC-8065-BCAD53139E35}">
      <dgm:prSet/>
      <dgm:spPr/>
      <dgm:t>
        <a:bodyPr/>
        <a:lstStyle/>
        <a:p>
          <a:r>
            <a:rPr lang="en-US" dirty="0" err="1"/>
            <a:t>klasyczny</a:t>
          </a:r>
          <a:r>
            <a:rPr lang="en-US" dirty="0"/>
            <a:t> model</a:t>
          </a:r>
        </a:p>
      </dgm:t>
    </dgm:pt>
    <dgm:pt modelId="{4446A58A-9B2A-45F2-A172-D15B8B43B07F}" type="parTrans" cxnId="{2CAC4A62-518A-4782-94AF-E2F0E5F76784}">
      <dgm:prSet/>
      <dgm:spPr/>
      <dgm:t>
        <a:bodyPr/>
        <a:lstStyle/>
        <a:p>
          <a:endParaRPr lang="en-US"/>
        </a:p>
      </dgm:t>
    </dgm:pt>
    <dgm:pt modelId="{B5FCCE96-0857-466D-99E3-A055A8DE850B}" type="sibTrans" cxnId="{2CAC4A62-518A-4782-94AF-E2F0E5F76784}">
      <dgm:prSet/>
      <dgm:spPr/>
      <dgm:t>
        <a:bodyPr/>
        <a:lstStyle/>
        <a:p>
          <a:endParaRPr lang="en-US"/>
        </a:p>
      </dgm:t>
    </dgm:pt>
    <dgm:pt modelId="{2CA9AC8A-4CC8-41E4-938A-50C5EA013CB8}">
      <dgm:prSet/>
      <dgm:spPr/>
      <dgm:t>
        <a:bodyPr/>
        <a:lstStyle/>
        <a:p>
          <a:r>
            <a:rPr lang="en-US" dirty="0" err="1"/>
            <a:t>klient</a:t>
          </a:r>
          <a:r>
            <a:rPr lang="en-US" dirty="0"/>
            <a:t> </a:t>
          </a:r>
          <a:r>
            <a:rPr lang="en-US" dirty="0" err="1"/>
            <a:t>pyta</a:t>
          </a:r>
          <a:r>
            <a:rPr lang="pl-PL" dirty="0"/>
            <a:t> - </a:t>
          </a:r>
          <a:r>
            <a:rPr lang="en-US" dirty="0" err="1"/>
            <a:t>serwer</a:t>
          </a:r>
          <a:r>
            <a:rPr lang="en-US" dirty="0"/>
            <a:t> </a:t>
          </a:r>
          <a:r>
            <a:rPr lang="en-US" dirty="0" err="1"/>
            <a:t>odpowiada</a:t>
          </a:r>
          <a:endParaRPr lang="en-US" dirty="0"/>
        </a:p>
      </dgm:t>
    </dgm:pt>
    <dgm:pt modelId="{0338F26C-7CF4-4E39-A7F2-0AE83819F936}" type="parTrans" cxnId="{1C4B25C7-B172-4F89-93B4-80C76F08C224}">
      <dgm:prSet/>
      <dgm:spPr/>
      <dgm:t>
        <a:bodyPr/>
        <a:lstStyle/>
        <a:p>
          <a:endParaRPr lang="en-US"/>
        </a:p>
      </dgm:t>
    </dgm:pt>
    <dgm:pt modelId="{B6E32940-8840-47B8-85D0-B8E86AF1CD02}" type="sibTrans" cxnId="{1C4B25C7-B172-4F89-93B4-80C76F08C224}">
      <dgm:prSet/>
      <dgm:spPr/>
      <dgm:t>
        <a:bodyPr/>
        <a:lstStyle/>
        <a:p>
          <a:endParaRPr lang="en-US"/>
        </a:p>
      </dgm:t>
    </dgm:pt>
    <dgm:pt modelId="{8D44837D-6D77-48A5-AC51-487F1AE6E844}">
      <dgm:prSet/>
      <dgm:spPr/>
      <dgm:t>
        <a:bodyPr/>
        <a:lstStyle/>
        <a:p>
          <a:r>
            <a:rPr lang="en-US" dirty="0" err="1"/>
            <a:t>brak</a:t>
          </a:r>
          <a:r>
            <a:rPr lang="en-US" dirty="0"/>
            <a:t> </a:t>
          </a:r>
          <a:r>
            <a:rPr lang="en-US" dirty="0" err="1"/>
            <a:t>inicjatywy</a:t>
          </a:r>
          <a:r>
            <a:rPr lang="en-US" dirty="0"/>
            <a:t> </a:t>
          </a:r>
          <a:r>
            <a:rPr lang="en-US" dirty="0" err="1"/>
            <a:t>serwera</a:t>
          </a:r>
          <a:endParaRPr lang="en-US" dirty="0"/>
        </a:p>
      </dgm:t>
    </dgm:pt>
    <dgm:pt modelId="{D0479ED3-6610-432C-BBF6-782E530C972F}" type="parTrans" cxnId="{4D9905F0-AE61-4494-B560-600AA17AA17F}">
      <dgm:prSet/>
      <dgm:spPr/>
      <dgm:t>
        <a:bodyPr/>
        <a:lstStyle/>
        <a:p>
          <a:endParaRPr lang="en-US"/>
        </a:p>
      </dgm:t>
    </dgm:pt>
    <dgm:pt modelId="{277AAA6B-5416-461A-BB0A-22DD4EA9A930}" type="sibTrans" cxnId="{4D9905F0-AE61-4494-B560-600AA17AA17F}">
      <dgm:prSet/>
      <dgm:spPr/>
      <dgm:t>
        <a:bodyPr/>
        <a:lstStyle/>
        <a:p>
          <a:endParaRPr lang="en-US"/>
        </a:p>
      </dgm:t>
    </dgm:pt>
    <dgm:pt modelId="{419A9DA7-4CD3-4345-AF43-694027F10F16}" type="pres">
      <dgm:prSet presAssocID="{15F28D4F-5AAB-4B09-B283-E382933D1F5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C41CB2C-7002-4EA6-92C8-EE451AE6B5C0}" type="pres">
      <dgm:prSet presAssocID="{F2CDC2EC-8F59-46AC-8065-BCAD53139E35}" presName="root" presStyleCnt="0"/>
      <dgm:spPr/>
    </dgm:pt>
    <dgm:pt modelId="{DE3554FA-C513-4215-A822-3A91C8A3D6FE}" type="pres">
      <dgm:prSet presAssocID="{F2CDC2EC-8F59-46AC-8065-BCAD53139E35}" presName="rootComposite" presStyleCnt="0"/>
      <dgm:spPr/>
    </dgm:pt>
    <dgm:pt modelId="{C76293D1-7629-4699-8D9B-8A696B93A5A1}" type="pres">
      <dgm:prSet presAssocID="{F2CDC2EC-8F59-46AC-8065-BCAD53139E35}" presName="rootText" presStyleLbl="node1" presStyleIdx="0" presStyleCnt="3"/>
      <dgm:spPr/>
    </dgm:pt>
    <dgm:pt modelId="{A745B92F-9090-4BBF-A7BB-A8A1599AF0D6}" type="pres">
      <dgm:prSet presAssocID="{F2CDC2EC-8F59-46AC-8065-BCAD53139E35}" presName="rootConnector" presStyleLbl="node1" presStyleIdx="0" presStyleCnt="3"/>
      <dgm:spPr/>
    </dgm:pt>
    <dgm:pt modelId="{D71A14FC-729A-463C-A24A-18F9BD436FD8}" type="pres">
      <dgm:prSet presAssocID="{F2CDC2EC-8F59-46AC-8065-BCAD53139E35}" presName="childShape" presStyleCnt="0"/>
      <dgm:spPr/>
    </dgm:pt>
    <dgm:pt modelId="{C53AC567-A9EF-4A77-8958-7BFB53F4F48B}" type="pres">
      <dgm:prSet presAssocID="{2CA9AC8A-4CC8-41E4-938A-50C5EA013CB8}" presName="root" presStyleCnt="0"/>
      <dgm:spPr/>
    </dgm:pt>
    <dgm:pt modelId="{9BF32A94-4164-4836-873F-6B0A050B36C0}" type="pres">
      <dgm:prSet presAssocID="{2CA9AC8A-4CC8-41E4-938A-50C5EA013CB8}" presName="rootComposite" presStyleCnt="0"/>
      <dgm:spPr/>
    </dgm:pt>
    <dgm:pt modelId="{E85EC6A4-0CCA-4A32-B3AA-BAB8431256BB}" type="pres">
      <dgm:prSet presAssocID="{2CA9AC8A-4CC8-41E4-938A-50C5EA013CB8}" presName="rootText" presStyleLbl="node1" presStyleIdx="1" presStyleCnt="3"/>
      <dgm:spPr/>
    </dgm:pt>
    <dgm:pt modelId="{6F5A2E9C-80B1-4F45-BAD4-B9A011556FFA}" type="pres">
      <dgm:prSet presAssocID="{2CA9AC8A-4CC8-41E4-938A-50C5EA013CB8}" presName="rootConnector" presStyleLbl="node1" presStyleIdx="1" presStyleCnt="3"/>
      <dgm:spPr/>
    </dgm:pt>
    <dgm:pt modelId="{606363C4-CBFF-4417-9B29-49AFF86838C8}" type="pres">
      <dgm:prSet presAssocID="{2CA9AC8A-4CC8-41E4-938A-50C5EA013CB8}" presName="childShape" presStyleCnt="0"/>
      <dgm:spPr/>
    </dgm:pt>
    <dgm:pt modelId="{8B47521F-28A2-4DD4-A9D2-51CF8793D0BD}" type="pres">
      <dgm:prSet presAssocID="{8D44837D-6D77-48A5-AC51-487F1AE6E844}" presName="root" presStyleCnt="0"/>
      <dgm:spPr/>
    </dgm:pt>
    <dgm:pt modelId="{D3359DBE-27B4-45DC-BAFA-7617B833BBF5}" type="pres">
      <dgm:prSet presAssocID="{8D44837D-6D77-48A5-AC51-487F1AE6E844}" presName="rootComposite" presStyleCnt="0"/>
      <dgm:spPr/>
    </dgm:pt>
    <dgm:pt modelId="{C365FAFB-830B-4011-B7EC-84BA03C9B176}" type="pres">
      <dgm:prSet presAssocID="{8D44837D-6D77-48A5-AC51-487F1AE6E844}" presName="rootText" presStyleLbl="node1" presStyleIdx="2" presStyleCnt="3"/>
      <dgm:spPr/>
    </dgm:pt>
    <dgm:pt modelId="{B7BA2CBF-7548-4E3D-8458-E0163848FD25}" type="pres">
      <dgm:prSet presAssocID="{8D44837D-6D77-48A5-AC51-487F1AE6E844}" presName="rootConnector" presStyleLbl="node1" presStyleIdx="2" presStyleCnt="3"/>
      <dgm:spPr/>
    </dgm:pt>
    <dgm:pt modelId="{D887A30C-5F04-4D28-9FFB-3B235DFDE2F8}" type="pres">
      <dgm:prSet presAssocID="{8D44837D-6D77-48A5-AC51-487F1AE6E844}" presName="childShape" presStyleCnt="0"/>
      <dgm:spPr/>
    </dgm:pt>
  </dgm:ptLst>
  <dgm:cxnLst>
    <dgm:cxn modelId="{2CAC4A62-518A-4782-94AF-E2F0E5F76784}" srcId="{15F28D4F-5AAB-4B09-B283-E382933D1F59}" destId="{F2CDC2EC-8F59-46AC-8065-BCAD53139E35}" srcOrd="0" destOrd="0" parTransId="{4446A58A-9B2A-45F2-A172-D15B8B43B07F}" sibTransId="{B5FCCE96-0857-466D-99E3-A055A8DE850B}"/>
    <dgm:cxn modelId="{B45E536E-D952-4AE1-8514-71C08B447FE3}" type="presOf" srcId="{2CA9AC8A-4CC8-41E4-938A-50C5EA013CB8}" destId="{6F5A2E9C-80B1-4F45-BAD4-B9A011556FFA}" srcOrd="1" destOrd="0" presId="urn:microsoft.com/office/officeart/2005/8/layout/hierarchy3"/>
    <dgm:cxn modelId="{A1181F9F-0C0B-4E0E-A51A-97FE011104A9}" type="presOf" srcId="{F2CDC2EC-8F59-46AC-8065-BCAD53139E35}" destId="{C76293D1-7629-4699-8D9B-8A696B93A5A1}" srcOrd="0" destOrd="0" presId="urn:microsoft.com/office/officeart/2005/8/layout/hierarchy3"/>
    <dgm:cxn modelId="{6B67A2A5-D099-42D1-9C8A-93060CEA53F7}" type="presOf" srcId="{15F28D4F-5AAB-4B09-B283-E382933D1F59}" destId="{419A9DA7-4CD3-4345-AF43-694027F10F16}" srcOrd="0" destOrd="0" presId="urn:microsoft.com/office/officeart/2005/8/layout/hierarchy3"/>
    <dgm:cxn modelId="{500F18A7-9C76-4F5B-9B59-C0D021D1A516}" type="presOf" srcId="{F2CDC2EC-8F59-46AC-8065-BCAD53139E35}" destId="{A745B92F-9090-4BBF-A7BB-A8A1599AF0D6}" srcOrd="1" destOrd="0" presId="urn:microsoft.com/office/officeart/2005/8/layout/hierarchy3"/>
    <dgm:cxn modelId="{2E8178A7-D12D-4C4F-AC24-BF51A2B2B0E1}" type="presOf" srcId="{8D44837D-6D77-48A5-AC51-487F1AE6E844}" destId="{C365FAFB-830B-4011-B7EC-84BA03C9B176}" srcOrd="0" destOrd="0" presId="urn:microsoft.com/office/officeart/2005/8/layout/hierarchy3"/>
    <dgm:cxn modelId="{3104B8AD-2A24-42C6-AC53-7AC0689DCBA1}" type="presOf" srcId="{2CA9AC8A-4CC8-41E4-938A-50C5EA013CB8}" destId="{E85EC6A4-0CCA-4A32-B3AA-BAB8431256BB}" srcOrd="0" destOrd="0" presId="urn:microsoft.com/office/officeart/2005/8/layout/hierarchy3"/>
    <dgm:cxn modelId="{1C4B25C7-B172-4F89-93B4-80C76F08C224}" srcId="{15F28D4F-5AAB-4B09-B283-E382933D1F59}" destId="{2CA9AC8A-4CC8-41E4-938A-50C5EA013CB8}" srcOrd="1" destOrd="0" parTransId="{0338F26C-7CF4-4E39-A7F2-0AE83819F936}" sibTransId="{B6E32940-8840-47B8-85D0-B8E86AF1CD02}"/>
    <dgm:cxn modelId="{1A8056D9-197F-4776-9FD3-E610AE2A97E6}" type="presOf" srcId="{8D44837D-6D77-48A5-AC51-487F1AE6E844}" destId="{B7BA2CBF-7548-4E3D-8458-E0163848FD25}" srcOrd="1" destOrd="0" presId="urn:microsoft.com/office/officeart/2005/8/layout/hierarchy3"/>
    <dgm:cxn modelId="{4D9905F0-AE61-4494-B560-600AA17AA17F}" srcId="{15F28D4F-5AAB-4B09-B283-E382933D1F59}" destId="{8D44837D-6D77-48A5-AC51-487F1AE6E844}" srcOrd="2" destOrd="0" parTransId="{D0479ED3-6610-432C-BBF6-782E530C972F}" sibTransId="{277AAA6B-5416-461A-BB0A-22DD4EA9A930}"/>
    <dgm:cxn modelId="{7C1B0DA8-539F-4CEE-A458-BA266A0911B0}" type="presParOf" srcId="{419A9DA7-4CD3-4345-AF43-694027F10F16}" destId="{8C41CB2C-7002-4EA6-92C8-EE451AE6B5C0}" srcOrd="0" destOrd="0" presId="urn:microsoft.com/office/officeart/2005/8/layout/hierarchy3"/>
    <dgm:cxn modelId="{1AE45875-73BB-4F2D-BC09-07B04F02C743}" type="presParOf" srcId="{8C41CB2C-7002-4EA6-92C8-EE451AE6B5C0}" destId="{DE3554FA-C513-4215-A822-3A91C8A3D6FE}" srcOrd="0" destOrd="0" presId="urn:microsoft.com/office/officeart/2005/8/layout/hierarchy3"/>
    <dgm:cxn modelId="{07FF79D7-F2A0-45DB-A474-E849EC866B2A}" type="presParOf" srcId="{DE3554FA-C513-4215-A822-3A91C8A3D6FE}" destId="{C76293D1-7629-4699-8D9B-8A696B93A5A1}" srcOrd="0" destOrd="0" presId="urn:microsoft.com/office/officeart/2005/8/layout/hierarchy3"/>
    <dgm:cxn modelId="{3CBB4BA4-23E5-408D-BE73-6471CC4F7DFF}" type="presParOf" srcId="{DE3554FA-C513-4215-A822-3A91C8A3D6FE}" destId="{A745B92F-9090-4BBF-A7BB-A8A1599AF0D6}" srcOrd="1" destOrd="0" presId="urn:microsoft.com/office/officeart/2005/8/layout/hierarchy3"/>
    <dgm:cxn modelId="{A21FEE96-309E-44DA-9D39-31DDF80DFDEA}" type="presParOf" srcId="{8C41CB2C-7002-4EA6-92C8-EE451AE6B5C0}" destId="{D71A14FC-729A-463C-A24A-18F9BD436FD8}" srcOrd="1" destOrd="0" presId="urn:microsoft.com/office/officeart/2005/8/layout/hierarchy3"/>
    <dgm:cxn modelId="{FADD36A3-C8CF-487C-8C6F-08EE59CE6CCF}" type="presParOf" srcId="{419A9DA7-4CD3-4345-AF43-694027F10F16}" destId="{C53AC567-A9EF-4A77-8958-7BFB53F4F48B}" srcOrd="1" destOrd="0" presId="urn:microsoft.com/office/officeart/2005/8/layout/hierarchy3"/>
    <dgm:cxn modelId="{AFC12C44-EE16-4BAE-BC0A-EF26E5145163}" type="presParOf" srcId="{C53AC567-A9EF-4A77-8958-7BFB53F4F48B}" destId="{9BF32A94-4164-4836-873F-6B0A050B36C0}" srcOrd="0" destOrd="0" presId="urn:microsoft.com/office/officeart/2005/8/layout/hierarchy3"/>
    <dgm:cxn modelId="{198EC71A-9425-40D4-B8F6-59F7FC8A75B3}" type="presParOf" srcId="{9BF32A94-4164-4836-873F-6B0A050B36C0}" destId="{E85EC6A4-0CCA-4A32-B3AA-BAB8431256BB}" srcOrd="0" destOrd="0" presId="urn:microsoft.com/office/officeart/2005/8/layout/hierarchy3"/>
    <dgm:cxn modelId="{52358B44-1603-4EBB-BEBA-FE2FAA0B65E6}" type="presParOf" srcId="{9BF32A94-4164-4836-873F-6B0A050B36C0}" destId="{6F5A2E9C-80B1-4F45-BAD4-B9A011556FFA}" srcOrd="1" destOrd="0" presId="urn:microsoft.com/office/officeart/2005/8/layout/hierarchy3"/>
    <dgm:cxn modelId="{02A007DB-E56A-4CBA-BF4B-1C1344A5F87E}" type="presParOf" srcId="{C53AC567-A9EF-4A77-8958-7BFB53F4F48B}" destId="{606363C4-CBFF-4417-9B29-49AFF86838C8}" srcOrd="1" destOrd="0" presId="urn:microsoft.com/office/officeart/2005/8/layout/hierarchy3"/>
    <dgm:cxn modelId="{067A41B7-86C4-469B-8B02-72DF53F472D0}" type="presParOf" srcId="{419A9DA7-4CD3-4345-AF43-694027F10F16}" destId="{8B47521F-28A2-4DD4-A9D2-51CF8793D0BD}" srcOrd="2" destOrd="0" presId="urn:microsoft.com/office/officeart/2005/8/layout/hierarchy3"/>
    <dgm:cxn modelId="{6F2030A0-C7BA-4E2A-BED4-24CFADB49CE2}" type="presParOf" srcId="{8B47521F-28A2-4DD4-A9D2-51CF8793D0BD}" destId="{D3359DBE-27B4-45DC-BAFA-7617B833BBF5}" srcOrd="0" destOrd="0" presId="urn:microsoft.com/office/officeart/2005/8/layout/hierarchy3"/>
    <dgm:cxn modelId="{B410714E-E95D-4DF0-9A16-77ED2EA67F4B}" type="presParOf" srcId="{D3359DBE-27B4-45DC-BAFA-7617B833BBF5}" destId="{C365FAFB-830B-4011-B7EC-84BA03C9B176}" srcOrd="0" destOrd="0" presId="urn:microsoft.com/office/officeart/2005/8/layout/hierarchy3"/>
    <dgm:cxn modelId="{BAAABC66-847D-46C0-A940-03440C1A9841}" type="presParOf" srcId="{D3359DBE-27B4-45DC-BAFA-7617B833BBF5}" destId="{B7BA2CBF-7548-4E3D-8458-E0163848FD25}" srcOrd="1" destOrd="0" presId="urn:microsoft.com/office/officeart/2005/8/layout/hierarchy3"/>
    <dgm:cxn modelId="{154DDE93-3A53-4FAB-9462-D346C1AAC032}" type="presParOf" srcId="{8B47521F-28A2-4DD4-A9D2-51CF8793D0BD}" destId="{D887A30C-5F04-4D28-9FFB-3B235DFDE2F8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293D1-7629-4699-8D9B-8A696B93A5A1}">
      <dsp:nvSpPr>
        <dsp:cNvPr id="0" name=""/>
        <dsp:cNvSpPr/>
      </dsp:nvSpPr>
      <dsp:spPr>
        <a:xfrm>
          <a:off x="804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klasyczny</a:t>
          </a:r>
          <a:r>
            <a:rPr lang="en-US" sz="1900" kern="1200" dirty="0"/>
            <a:t> model</a:t>
          </a:r>
        </a:p>
      </dsp:txBody>
      <dsp:txXfrm>
        <a:off x="28376" y="1446004"/>
        <a:ext cx="1827624" cy="886240"/>
      </dsp:txXfrm>
    </dsp:sp>
    <dsp:sp modelId="{E85EC6A4-0CCA-4A32-B3AA-BAB8431256BB}">
      <dsp:nvSpPr>
        <dsp:cNvPr id="0" name=""/>
        <dsp:cNvSpPr/>
      </dsp:nvSpPr>
      <dsp:spPr>
        <a:xfrm>
          <a:off x="2354265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klient</a:t>
          </a:r>
          <a:r>
            <a:rPr lang="en-US" sz="1900" kern="1200" dirty="0"/>
            <a:t> </a:t>
          </a:r>
          <a:r>
            <a:rPr lang="en-US" sz="1900" kern="1200" dirty="0" err="1"/>
            <a:t>pyta</a:t>
          </a:r>
          <a:r>
            <a:rPr lang="pl-PL" sz="1900" kern="1200" dirty="0"/>
            <a:t> - </a:t>
          </a:r>
          <a:r>
            <a:rPr lang="en-US" sz="1900" kern="1200" dirty="0" err="1"/>
            <a:t>serwer</a:t>
          </a:r>
          <a:r>
            <a:rPr lang="en-US" sz="1900" kern="1200" dirty="0"/>
            <a:t> </a:t>
          </a:r>
          <a:r>
            <a:rPr lang="en-US" sz="1900" kern="1200" dirty="0" err="1"/>
            <a:t>odpowiada</a:t>
          </a:r>
          <a:endParaRPr lang="en-US" sz="1900" kern="1200" dirty="0"/>
        </a:p>
      </dsp:txBody>
      <dsp:txXfrm>
        <a:off x="2381837" y="1446004"/>
        <a:ext cx="1827624" cy="886240"/>
      </dsp:txXfrm>
    </dsp:sp>
    <dsp:sp modelId="{C365FAFB-830B-4011-B7EC-84BA03C9B176}">
      <dsp:nvSpPr>
        <dsp:cNvPr id="0" name=""/>
        <dsp:cNvSpPr/>
      </dsp:nvSpPr>
      <dsp:spPr>
        <a:xfrm>
          <a:off x="4707726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brak</a:t>
          </a:r>
          <a:r>
            <a:rPr lang="en-US" sz="1900" kern="1200" dirty="0"/>
            <a:t> </a:t>
          </a:r>
          <a:r>
            <a:rPr lang="en-US" sz="1900" kern="1200" dirty="0" err="1"/>
            <a:t>inicjatywy</a:t>
          </a:r>
          <a:r>
            <a:rPr lang="en-US" sz="1900" kern="1200" dirty="0"/>
            <a:t> </a:t>
          </a:r>
          <a:r>
            <a:rPr lang="en-US" sz="1900" kern="1200" dirty="0" err="1"/>
            <a:t>serwera</a:t>
          </a:r>
          <a:endParaRPr lang="en-US" sz="1900" kern="1200" dirty="0"/>
        </a:p>
      </dsp:txBody>
      <dsp:txXfrm>
        <a:off x="4735298" y="1446004"/>
        <a:ext cx="1827624" cy="886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4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362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92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51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0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68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493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366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43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79702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698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3095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717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21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656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454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a 4">
            <a:extLst>
              <a:ext uri="{FF2B5EF4-FFF2-40B4-BE49-F238E27FC236}">
                <a16:creationId xmlns:a16="http://schemas.microsoft.com/office/drawing/2014/main" id="{B8C84A54-B91F-C5AC-E2AE-C3F9CA158C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3496" y="4471147"/>
            <a:ext cx="3530503" cy="2386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8077" y="1318591"/>
            <a:ext cx="4350697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sz="4800">
                <a:solidFill>
                  <a:schemeClr val="tx2">
                    <a:lumMod val="75000"/>
                  </a:schemeClr>
                </a:solidFill>
              </a:rPr>
              <a:t>Nie tylko WebSocket…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91286" y="1871831"/>
            <a:ext cx="2313426" cy="3199806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Artur Lew,</a:t>
            </a:r>
            <a:br>
              <a:rPr lang="fr-FR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fr-FR" dirty="0" err="1">
                <a:solidFill>
                  <a:schemeClr val="tx2">
                    <a:lumMod val="75000"/>
                  </a:schemeClr>
                </a:solidFill>
              </a:rPr>
              <a:t>PyCon</a:t>
            </a:r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 PL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>
                <a:solidFill>
                  <a:schemeClr val="tx2">
                    <a:lumMod val="75000"/>
                  </a:schemeClr>
                </a:solidFill>
              </a:rPr>
              <a:t>Dzisiejsza tematyka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Komunikacja w aplikacjach web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WebSocket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vs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Push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w HTTP/1.1 i HTTP/2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Konfiguracja serwera (</a:t>
            </a: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Nginx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Implementacja SSE w przeglądarce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+ </a:t>
            </a: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Redis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Streams</a:t>
            </a:r>
            <a:endParaRPr lang="pl-PL" sz="2000" dirty="0">
              <a:solidFill>
                <a:schemeClr val="tx2">
                  <a:lumMod val="7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Rozwiązania typowych problemów związanych z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Przykładowe zastosowania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Podsumowanie +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CDE1C-C86F-1B4F-8546-FCBA55BB4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656F-9758-D961-4F0D-294500281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800">
                <a:solidFill>
                  <a:schemeClr val="tx2">
                    <a:lumMod val="75000"/>
                  </a:schemeClr>
                </a:solidFill>
              </a:rPr>
              <a:t>Komunikacja w aplikacjach web</a:t>
            </a:r>
            <a:br>
              <a:rPr lang="en-US" sz="2800">
                <a:solidFill>
                  <a:schemeClr val="tx2">
                    <a:lumMod val="75000"/>
                  </a:schemeClr>
                </a:solidFill>
              </a:rPr>
            </a:br>
            <a:endParaRPr lang="en-US" sz="28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E8F9-8998-E91B-CD33-B8E55E55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 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żądanie – odpowiedź (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request-response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Polling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Long Polling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WebSocket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Server-Sent Events (SSE)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HTTP/2 Push</a:t>
            </a:r>
          </a:p>
        </p:txBody>
      </p:sp>
    </p:spTree>
    <p:extLst>
      <p:ext uri="{BB962C8B-B14F-4D97-AF65-F5344CB8AC3E}">
        <p14:creationId xmlns:p14="http://schemas.microsoft.com/office/powerpoint/2010/main" val="416106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3F3DF-8CE6-0D37-2C29-6366225B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68E6-F6E6-A68C-A9ED-31C367596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 request-response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E7377E-98E9-216B-412D-76BEEDE52E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9354482"/>
              </p:ext>
            </p:extLst>
          </p:nvPr>
        </p:nvGraphicFramePr>
        <p:xfrm>
          <a:off x="1943100" y="2133600"/>
          <a:ext cx="65913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7805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E10-C28A-26F4-473D-CF8852A5D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0885C-EF7E-368E-BF61-DEA323C31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F098B-B00F-E7A9-E1A2-FF8413A59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cyklicznie</a:t>
            </a:r>
            <a:r>
              <a:rPr lang="en-US" dirty="0"/>
              <a:t> </a:t>
            </a:r>
            <a:r>
              <a:rPr lang="en-US" dirty="0" err="1"/>
              <a:t>pyta</a:t>
            </a:r>
            <a:r>
              <a:rPr lang="en-US" dirty="0"/>
              <a:t> </a:t>
            </a:r>
            <a:r>
              <a:rPr lang="en-US" dirty="0" err="1"/>
              <a:t>serwer</a:t>
            </a:r>
            <a:r>
              <a:rPr lang="en-US" dirty="0"/>
              <a:t> o </a:t>
            </a:r>
            <a:r>
              <a:rPr lang="en-US" dirty="0" err="1"/>
              <a:t>nowe</a:t>
            </a:r>
            <a:r>
              <a:rPr lang="en-US" dirty="0"/>
              <a:t> </a:t>
            </a:r>
            <a:r>
              <a:rPr lang="en-US" dirty="0" err="1"/>
              <a:t>dane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Plusy</a:t>
            </a:r>
            <a:r>
              <a:rPr lang="en-US" dirty="0"/>
              <a:t>: </a:t>
            </a:r>
            <a:r>
              <a:rPr lang="en-US" dirty="0" err="1"/>
              <a:t>prostota</a:t>
            </a:r>
            <a:r>
              <a:rPr lang="en-US" dirty="0"/>
              <a:t> </a:t>
            </a:r>
            <a:r>
              <a:rPr lang="en-US" dirty="0" err="1"/>
              <a:t>implementacji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Minusy</a:t>
            </a:r>
            <a:r>
              <a:rPr lang="en-US" dirty="0"/>
              <a:t>: </a:t>
            </a:r>
            <a:r>
              <a:rPr lang="en-US" dirty="0" err="1"/>
              <a:t>nieefektywne</a:t>
            </a:r>
            <a:r>
              <a:rPr lang="en-US" dirty="0"/>
              <a:t>, </a:t>
            </a:r>
            <a:r>
              <a:rPr lang="en-US" dirty="0" err="1"/>
              <a:t>opóźnienia</a:t>
            </a:r>
            <a:r>
              <a:rPr lang="en-US" dirty="0"/>
              <a:t>, </a:t>
            </a:r>
            <a:r>
              <a:rPr lang="en-US" dirty="0" err="1"/>
              <a:t>obciążenie</a:t>
            </a:r>
            <a:r>
              <a:rPr lang="en-US" dirty="0"/>
              <a:t> </a:t>
            </a:r>
            <a:r>
              <a:rPr lang="en-US" dirty="0" err="1"/>
              <a:t>serwera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8803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D578-0019-4E98-86B3-5A892F45D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474D-E034-241E-B5BF-913D5900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Long 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683FE-CD31-8F58-F419-4F98B4B98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utrzymuje</a:t>
            </a:r>
            <a:r>
              <a:rPr lang="en-US" dirty="0"/>
              <a:t> </a:t>
            </a:r>
            <a:r>
              <a:rPr lang="en-US" dirty="0" err="1"/>
              <a:t>żądanie</a:t>
            </a:r>
            <a:r>
              <a:rPr lang="en-US" dirty="0"/>
              <a:t> </a:t>
            </a:r>
            <a:r>
              <a:rPr lang="en-US" dirty="0" err="1"/>
              <a:t>otwarte</a:t>
            </a:r>
            <a:r>
              <a:rPr lang="en-US" dirty="0"/>
              <a:t>,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odpowiada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pojawi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zdarzenie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Efektywniejsze</a:t>
            </a:r>
            <a:r>
              <a:rPr lang="en-US" dirty="0"/>
              <a:t> </a:t>
            </a:r>
            <a:r>
              <a:rPr lang="en-US" dirty="0" err="1"/>
              <a:t>niż</a:t>
            </a:r>
            <a:r>
              <a:rPr lang="en-US" dirty="0"/>
              <a:t> polling, ale </a:t>
            </a:r>
            <a:r>
              <a:rPr lang="en-US" dirty="0" err="1"/>
              <a:t>wciąż</a:t>
            </a:r>
            <a:r>
              <a:rPr lang="en-US" dirty="0"/>
              <a:t> </a:t>
            </a:r>
            <a:r>
              <a:rPr lang="en-US" dirty="0" err="1"/>
              <a:t>kosztowne</a:t>
            </a:r>
            <a:r>
              <a:rPr lang="en-US" dirty="0"/>
              <a:t> (</a:t>
            </a:r>
            <a:r>
              <a:rPr lang="en-US" dirty="0" err="1"/>
              <a:t>wiele</a:t>
            </a:r>
            <a:r>
              <a:rPr lang="en-US" dirty="0"/>
              <a:t> </a:t>
            </a:r>
            <a:r>
              <a:rPr lang="en-US" dirty="0" err="1"/>
              <a:t>requestów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54335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6B6D-3478-CF9B-7914-BFE761B2D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B4AB-422B-1C61-5FC3-E406920BB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WebSocket</a:t>
            </a:r>
            <a:r>
              <a:rPr lang="pl-PL" sz="2800" dirty="0"/>
              <a:t>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D2314-F858-DD41-831E-B6A608C54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ełny</a:t>
            </a:r>
            <a:r>
              <a:rPr lang="en-US" dirty="0"/>
              <a:t> duplex: </a:t>
            </a:r>
            <a:r>
              <a:rPr lang="en-US" dirty="0" err="1"/>
              <a:t>klient</a:t>
            </a:r>
            <a:r>
              <a:rPr lang="en-US" dirty="0"/>
              <a:t> ↔ </a:t>
            </a:r>
            <a:r>
              <a:rPr lang="en-US" dirty="0" err="1"/>
              <a:t>serwer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Protokół binarny poza HTTP</a:t>
            </a:r>
          </a:p>
          <a:p>
            <a:pPr>
              <a:lnSpc>
                <a:spcPct val="90000"/>
              </a:lnSpc>
            </a:pPr>
            <a:r>
              <a:rPr lang="pl-PL" dirty="0"/>
              <a:t>Dodatkowa konfiguracja na serwerze</a:t>
            </a:r>
          </a:p>
          <a:p>
            <a:pPr>
              <a:lnSpc>
                <a:spcPct val="90000"/>
              </a:lnSpc>
            </a:pPr>
            <a:r>
              <a:rPr lang="pl-PL" dirty="0"/>
              <a:t>Trudniejsza obsługa autoryzacji i skalowania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Złożoność</a:t>
            </a:r>
            <a:r>
              <a:rPr lang="en-US" dirty="0"/>
              <a:t> </a:t>
            </a:r>
            <a:r>
              <a:rPr lang="en-US" dirty="0" err="1"/>
              <a:t>zarządzania</a:t>
            </a:r>
            <a:r>
              <a:rPr lang="en-US" dirty="0"/>
              <a:t> </a:t>
            </a:r>
            <a:r>
              <a:rPr lang="en-US" dirty="0" err="1"/>
              <a:t>połączeniami</a:t>
            </a:r>
            <a:r>
              <a:rPr lang="pl-PL" dirty="0"/>
              <a:t> (konieczność obsługi ponownego połączenia)</a:t>
            </a:r>
          </a:p>
          <a:p>
            <a:pPr>
              <a:lnSpc>
                <a:spcPct val="90000"/>
              </a:lnSpc>
            </a:pPr>
            <a:r>
              <a:rPr lang="pl-PL" dirty="0"/>
              <a:t>Konieczność zdefiniowania albo użycia dedykowanego protokołu wyższego rzędu jak STOMP</a:t>
            </a:r>
          </a:p>
          <a:p>
            <a:pPr>
              <a:lnSpc>
                <a:spcPct val="90000"/>
              </a:lnSpc>
            </a:pPr>
            <a:r>
              <a:rPr lang="pl-PL" dirty="0"/>
              <a:t>Biblioteki wprowadzają swoje abstrakcje które nie do końca są standardowe – np. Socket.IO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516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7FD0E-9E0A-7EA7-F381-B7EC0D2B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602E-96E5-859D-F570-5D825D2D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Server-Sent Events (SSE)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51ED-7C50-69E6-B062-775AF76D1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J</a:t>
            </a:r>
            <a:r>
              <a:rPr lang="en-US" dirty="0" err="1"/>
              <a:t>ednokierunkow</a:t>
            </a:r>
            <a:r>
              <a:rPr lang="pl-PL" dirty="0"/>
              <a:t>a komunikacja</a:t>
            </a:r>
            <a:r>
              <a:rPr lang="en-US" dirty="0"/>
              <a:t>: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</a:t>
            </a:r>
            <a:r>
              <a:rPr lang="en-US" dirty="0" err="1"/>
              <a:t>klient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Wbudowana implementacja dostępna w każdej przeglądarce</a:t>
            </a:r>
          </a:p>
          <a:p>
            <a:pPr>
              <a:lnSpc>
                <a:spcPct val="90000"/>
              </a:lnSpc>
            </a:pPr>
            <a:r>
              <a:rPr lang="pl-PL" dirty="0"/>
              <a:t>Protokół tekstowy</a:t>
            </a:r>
          </a:p>
          <a:p>
            <a:pPr>
              <a:lnSpc>
                <a:spcPct val="90000"/>
              </a:lnSpc>
            </a:pPr>
            <a:r>
              <a:rPr lang="pl-PL" dirty="0"/>
              <a:t>Kompatybilne z większością serwerów </a:t>
            </a:r>
            <a:r>
              <a:rPr lang="pl-PL" dirty="0" err="1"/>
              <a:t>proxy</a:t>
            </a:r>
            <a:r>
              <a:rPr lang="pl-PL" dirty="0"/>
              <a:t> i firewalli</a:t>
            </a:r>
          </a:p>
          <a:p>
            <a:pPr>
              <a:lnSpc>
                <a:spcPct val="90000"/>
              </a:lnSpc>
            </a:pPr>
            <a:r>
              <a:rPr lang="pl-PL" dirty="0"/>
              <a:t>Można wysyłać różne zdarzenia w tym samym kanale (event:)</a:t>
            </a:r>
          </a:p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rostota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niezawodność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868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2F4BE-E7F7-7035-1EBA-46F46A3E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764D-CFA8-6FE9-0A17-AF6DC13E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HTTP/2 Push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A892C-F51E-2EF8-4BF8-4E594E23E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</a:t>
            </a:r>
            <a:r>
              <a:rPr lang="en-US" dirty="0" err="1"/>
              <a:t>erwer</a:t>
            </a:r>
            <a:r>
              <a:rPr lang="en-US" dirty="0"/>
              <a:t> m</a:t>
            </a:r>
            <a:r>
              <a:rPr lang="pl-PL" dirty="0" err="1"/>
              <a:t>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</a:t>
            </a:r>
            <a:r>
              <a:rPr lang="en-US" dirty="0" err="1"/>
              <a:t>dodatkowe</a:t>
            </a:r>
            <a:r>
              <a:rPr lang="en-US" dirty="0"/>
              <a:t> </a:t>
            </a:r>
            <a:r>
              <a:rPr lang="en-US" dirty="0" err="1"/>
              <a:t>zasoby</a:t>
            </a:r>
            <a:r>
              <a:rPr lang="en-US" dirty="0"/>
              <a:t> </a:t>
            </a:r>
            <a:r>
              <a:rPr lang="en-US" dirty="0" err="1"/>
              <a:t>klientowi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Wycofane ze specyfikacji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945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4F929-1A36-334E-251B-2FA984932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2A11E0-9BC7-D5B6-3F16-F1B810B7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WebSockets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   </a:t>
            </a:r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i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SSE – Podobieństwa i różnice</a:t>
            </a:r>
            <a:endParaRPr lang="en-US" sz="25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0BCDB-3665-4311-937F-0F9627B93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l-PL" dirty="0"/>
              <a:t>Podobieństwa:</a:t>
            </a:r>
          </a:p>
          <a:p>
            <a:pPr>
              <a:lnSpc>
                <a:spcPct val="90000"/>
              </a:lnSpc>
            </a:pPr>
            <a:r>
              <a:rPr lang="pl-PL" dirty="0"/>
              <a:t>Umożliwiają komunikację w czasie rzeczywistym.</a:t>
            </a:r>
          </a:p>
          <a:p>
            <a:pPr>
              <a:lnSpc>
                <a:spcPct val="90000"/>
              </a:lnSpc>
            </a:pPr>
            <a:r>
              <a:rPr lang="pl-PL" dirty="0"/>
              <a:t>Używają jednego otwartego połączenia TCP.</a:t>
            </a:r>
          </a:p>
          <a:p>
            <a:pPr>
              <a:lnSpc>
                <a:spcPct val="90000"/>
              </a:lnSpc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r>
              <a:rPr lang="pl-PL" dirty="0"/>
              <a:t>Różnice: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WebSocket</a:t>
            </a:r>
            <a:r>
              <a:rPr lang="pl-PL" dirty="0"/>
              <a:t>: </a:t>
            </a:r>
            <a:r>
              <a:rPr lang="pl-PL" dirty="0" err="1"/>
              <a:t>full</a:t>
            </a:r>
            <a:r>
              <a:rPr lang="pl-PL" dirty="0"/>
              <a:t>-duplex, protokół niezależny od HTTP po ustanowieniu połączenia (ws://, wss://).</a:t>
            </a:r>
          </a:p>
          <a:p>
            <a:pPr>
              <a:lnSpc>
                <a:spcPct val="90000"/>
              </a:lnSpc>
            </a:pPr>
            <a:r>
              <a:rPr lang="pl-PL" dirty="0"/>
              <a:t>SSE: jednokierunkowy (tylko serwer 👉 klient), działa na standardowym HTTP/1.1.</a:t>
            </a:r>
          </a:p>
          <a:p>
            <a:pPr>
              <a:lnSpc>
                <a:spcPct val="90000"/>
              </a:lnSpc>
            </a:pPr>
            <a:r>
              <a:rPr lang="pl-PL" dirty="0"/>
              <a:t>Wsparcie w przeglądarkach: SSE ma natywne wsparcie przez </a:t>
            </a:r>
            <a:r>
              <a:rPr lang="pl-PL" dirty="0" err="1"/>
              <a:t>EventSource</a:t>
            </a:r>
            <a:r>
              <a:rPr lang="pl-PL" dirty="0"/>
              <a:t>.</a:t>
            </a:r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56702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47811-5003-1F35-1FDC-987E2A69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1FE8E4-A21E-6576-FD90-8BA03CCDF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WebSockets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 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i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SSE -  Zastosowania</a:t>
            </a:r>
            <a:endParaRPr lang="en-US" sz="25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57D8-CA8E-D273-C84F-087E51CD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pl-PL" dirty="0" err="1"/>
              <a:t>WebSocket</a:t>
            </a:r>
            <a:r>
              <a:rPr lang="pl-PL" dirty="0"/>
              <a:t> 👉 chaty, gry </a:t>
            </a:r>
            <a:r>
              <a:rPr lang="pl-PL" dirty="0" err="1"/>
              <a:t>multiplayer</a:t>
            </a:r>
            <a:r>
              <a:rPr lang="pl-PL" dirty="0"/>
              <a:t>, dwukierunkowa synchronizacja</a:t>
            </a:r>
          </a:p>
          <a:p>
            <a:r>
              <a:rPr lang="pl-PL" dirty="0"/>
              <a:t>SSE 👉 powiadomienia, aktualizacje statusów, monitoring</a:t>
            </a:r>
          </a:p>
          <a:p>
            <a:r>
              <a:rPr lang="pl-PL" dirty="0"/>
              <a:t>Zużycie zasobów:</a:t>
            </a:r>
            <a:br>
              <a:rPr lang="pl-PL" dirty="0"/>
            </a:br>
            <a:r>
              <a:rPr lang="pl-PL" dirty="0"/>
              <a:t>SSE 👉 znikome</a:t>
            </a:r>
            <a:br>
              <a:rPr lang="pl-PL" dirty="0"/>
            </a:br>
            <a:r>
              <a:rPr lang="pl-PL" dirty="0"/>
              <a:t>WS 👉 narzut bibliotek i dodatkowego kodu</a:t>
            </a:r>
          </a:p>
        </p:txBody>
      </p:sp>
    </p:spTree>
    <p:extLst>
      <p:ext uri="{BB962C8B-B14F-4D97-AF65-F5344CB8AC3E}">
        <p14:creationId xmlns:p14="http://schemas.microsoft.com/office/powerpoint/2010/main" val="103648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E4CAB-D2B8-A485-5F8D-9108BAE2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06D363-F709-0D88-0DA2-970FB1785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sz="2800">
                <a:solidFill>
                  <a:schemeClr val="tx2">
                    <a:lumMod val="75000"/>
                  </a:schemeClr>
                </a:solidFill>
              </a:rPr>
              <a:t>Rozwiązania "push" w HTTP1.1 i HTTP/2</a:t>
            </a:r>
            <a:endParaRPr lang="en-US" sz="28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A9988-58E5-4A99-8FA0-09D7D1F10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/>
              <a:t>HTTP/1.1: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natywnego</a:t>
            </a:r>
            <a:r>
              <a:rPr lang="en-US" dirty="0"/>
              <a:t> push, </a:t>
            </a:r>
            <a:r>
              <a:rPr lang="en-US" dirty="0" err="1"/>
              <a:t>jedynie</a:t>
            </a:r>
            <a:r>
              <a:rPr lang="en-US" dirty="0"/>
              <a:t> „</a:t>
            </a:r>
            <a:r>
              <a:rPr lang="en-US" dirty="0" err="1"/>
              <a:t>triki</a:t>
            </a:r>
            <a:r>
              <a:rPr lang="en-US" dirty="0"/>
              <a:t>” </a:t>
            </a:r>
            <a:r>
              <a:rPr lang="en-US" dirty="0" err="1"/>
              <a:t>typu</a:t>
            </a:r>
            <a:r>
              <a:rPr lang="en-US" dirty="0"/>
              <a:t> long polling </a:t>
            </a:r>
            <a:r>
              <a:rPr lang="en-US" dirty="0" err="1"/>
              <a:t>czy</a:t>
            </a:r>
            <a:r>
              <a:rPr lang="en-US" dirty="0"/>
              <a:t> SSE.</a:t>
            </a:r>
          </a:p>
          <a:p>
            <a:r>
              <a:rPr lang="en-US" dirty="0"/>
              <a:t>HTTP/2: </a:t>
            </a:r>
            <a:r>
              <a:rPr lang="en-US" dirty="0" err="1"/>
              <a:t>wprowadził</a:t>
            </a:r>
            <a:r>
              <a:rPr lang="en-US" dirty="0"/>
              <a:t> Server Push (np.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CSS/JS </a:t>
            </a:r>
            <a:r>
              <a:rPr lang="en-US" dirty="0" err="1"/>
              <a:t>zanim</a:t>
            </a:r>
            <a:r>
              <a:rPr lang="en-US" dirty="0"/>
              <a:t> </a:t>
            </a:r>
            <a:r>
              <a:rPr lang="en-US" dirty="0" err="1"/>
              <a:t>przeglądarka</a:t>
            </a:r>
            <a:r>
              <a:rPr lang="en-US" dirty="0"/>
              <a:t> </a:t>
            </a:r>
            <a:r>
              <a:rPr lang="en-US" dirty="0" err="1"/>
              <a:t>poprosi</a:t>
            </a:r>
            <a:r>
              <a:rPr lang="en-US" dirty="0"/>
              <a:t>).</a:t>
            </a:r>
          </a:p>
          <a:p>
            <a:r>
              <a:rPr lang="en-US" dirty="0"/>
              <a:t>HTTP/3 (QUIC): focus </a:t>
            </a:r>
            <a:r>
              <a:rPr lang="en-US" dirty="0" err="1"/>
              <a:t>na</a:t>
            </a:r>
            <a:r>
              <a:rPr lang="en-US" dirty="0"/>
              <a:t> multiplexing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niższe</a:t>
            </a:r>
            <a:r>
              <a:rPr lang="en-US" dirty="0"/>
              <a:t> </a:t>
            </a:r>
            <a:r>
              <a:rPr lang="en-US" dirty="0" err="1"/>
              <a:t>opóźnienia</a:t>
            </a:r>
            <a:r>
              <a:rPr lang="en-US" dirty="0"/>
              <a:t>, ale bez Server Push.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Wniosek:</a:t>
            </a:r>
            <a:endParaRPr lang="pl-PL" dirty="0"/>
          </a:p>
          <a:p>
            <a:pPr marL="0" indent="0">
              <a:buNone/>
            </a:pPr>
            <a:r>
              <a:rPr lang="en-US" dirty="0"/>
              <a:t>Server Push w HTTP/2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przyjął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SSE </a:t>
            </a:r>
            <a:r>
              <a:rPr lang="en-US" dirty="0" err="1"/>
              <a:t>i</a:t>
            </a:r>
            <a:r>
              <a:rPr lang="en-US" dirty="0"/>
              <a:t> WebSocket </a:t>
            </a:r>
            <a:r>
              <a:rPr lang="en-US" dirty="0" err="1"/>
              <a:t>nadal</a:t>
            </a:r>
            <a:r>
              <a:rPr lang="en-US" dirty="0"/>
              <a:t> </a:t>
            </a:r>
            <a:r>
              <a:rPr lang="pl-PL" dirty="0"/>
              <a:t>rządzą </a:t>
            </a:r>
            <a:r>
              <a:rPr lang="pl-PL" dirty="0">
                <a:sym typeface="Wingdings" panose="05000000000000000000" pitchFamily="2" charset="2"/>
              </a:rPr>
              <a:t>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81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BA951-8D13-96CF-A748-0677AD93C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C437BB-DCD8-F559-5F73-5ACA43DD5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sz="2800">
                <a:solidFill>
                  <a:schemeClr val="tx2">
                    <a:lumMod val="75000"/>
                  </a:schemeClr>
                </a:solidFill>
              </a:rPr>
              <a:t>Konfiguracja serwera (Nginx)</a:t>
            </a:r>
            <a:endParaRPr lang="en-US" sz="28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C19A4-2B7B-40B4-ACEC-BCE1EF991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Problem: </a:t>
            </a:r>
            <a:r>
              <a:rPr lang="pl-PL" dirty="0" err="1"/>
              <a:t>Nginx</a:t>
            </a:r>
            <a:r>
              <a:rPr lang="pl-PL" dirty="0"/>
              <a:t> domyślnie buforuje odpowiedzi → SSE przestaje działać.  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wyłączyć buforowanie + utrzymać </a:t>
            </a:r>
            <a:r>
              <a:rPr lang="pl-PL" dirty="0" err="1"/>
              <a:t>connection</a:t>
            </a:r>
            <a:r>
              <a:rPr lang="pl-PL" dirty="0"/>
              <a:t> open.</a:t>
            </a:r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location /events {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proxy_pass</a:t>
            </a:r>
            <a:r>
              <a:rPr lang="en-US" dirty="0"/>
              <a:t> http://127.0.0.1:8000;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proxy_http_version</a:t>
            </a:r>
            <a:r>
              <a:rPr lang="en-US" dirty="0"/>
              <a:t> 1.1;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proxy_set_header</a:t>
            </a:r>
            <a:r>
              <a:rPr lang="en-US" dirty="0"/>
              <a:t> Connection '';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chunked_transfer_encoding</a:t>
            </a:r>
            <a:r>
              <a:rPr lang="en-US" dirty="0"/>
              <a:t> off;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proxy_buffering</a:t>
            </a:r>
            <a:r>
              <a:rPr lang="en-US" dirty="0"/>
              <a:t> off;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proxy_cache</a:t>
            </a:r>
            <a:r>
              <a:rPr lang="en-US" dirty="0"/>
              <a:t> off;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 </a:t>
            </a:r>
            <a:r>
              <a:rPr lang="en-US" dirty="0" err="1"/>
              <a:t>keepalive_requests</a:t>
            </a:r>
            <a:r>
              <a:rPr lang="en-US" dirty="0"/>
              <a:t> 100000;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85090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A07E38-70D6-D161-6229-E92DB189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F048B7-4355-0C8E-5D80-2DF6C3B1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SSE</a:t>
            </a:r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 w przeglądarce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7EDE5-44BA-03D4-11CF-414C213B3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dirty="0"/>
              <a:t>const </a:t>
            </a:r>
            <a:r>
              <a:rPr lang="en-US" dirty="0" err="1"/>
              <a:t>evtSource</a:t>
            </a:r>
            <a:r>
              <a:rPr lang="en-US" dirty="0"/>
              <a:t> = new </a:t>
            </a:r>
            <a:r>
              <a:rPr lang="en-US" dirty="0" err="1"/>
              <a:t>EventSource</a:t>
            </a:r>
            <a:r>
              <a:rPr lang="en-US" dirty="0"/>
              <a:t>("/events");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dirty="0" err="1"/>
              <a:t>evtSource.onmessage</a:t>
            </a:r>
            <a:r>
              <a:rPr lang="en-US" dirty="0"/>
              <a:t> = (event) =&gt; {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console.log("Nowa </a:t>
            </a:r>
            <a:r>
              <a:rPr lang="en-US" dirty="0" err="1"/>
              <a:t>wiadomość</a:t>
            </a:r>
            <a:r>
              <a:rPr lang="en-US" dirty="0"/>
              <a:t>:", </a:t>
            </a:r>
            <a:r>
              <a:rPr lang="en-US" dirty="0" err="1"/>
              <a:t>event.data</a:t>
            </a:r>
            <a:r>
              <a:rPr lang="en-US" dirty="0"/>
              <a:t>);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};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dirty="0" err="1"/>
              <a:t>evtSource.addEventListener</a:t>
            </a:r>
            <a:r>
              <a:rPr lang="en-US" dirty="0"/>
              <a:t>("custom", (event) =&gt; {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console.log("Custom event:", </a:t>
            </a:r>
            <a:r>
              <a:rPr lang="en-US" dirty="0" err="1"/>
              <a:t>event.data</a:t>
            </a:r>
            <a:r>
              <a:rPr lang="en-US" dirty="0"/>
              <a:t>);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});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dirty="0" err="1"/>
              <a:t>evtSource.onerror</a:t>
            </a:r>
            <a:r>
              <a:rPr lang="en-US" dirty="0"/>
              <a:t> = () =&gt; {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  </a:t>
            </a:r>
            <a:r>
              <a:rPr lang="en-US" dirty="0" err="1"/>
              <a:t>console.error</a:t>
            </a:r>
            <a:r>
              <a:rPr lang="en-US" dirty="0"/>
              <a:t>("</a:t>
            </a:r>
            <a:r>
              <a:rPr lang="en-US" dirty="0" err="1"/>
              <a:t>Błąd</a:t>
            </a:r>
            <a:r>
              <a:rPr lang="en-US" dirty="0"/>
              <a:t> </a:t>
            </a:r>
            <a:r>
              <a:rPr lang="en-US" dirty="0" err="1"/>
              <a:t>połączenia</a:t>
            </a:r>
            <a:r>
              <a:rPr lang="en-US" dirty="0"/>
              <a:t>");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265997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11521-D965-AECE-DEDC-71BE385E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D2363-81D2-8A17-5EF1-A042FBDE1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>
                <a:solidFill>
                  <a:schemeClr val="tx2">
                    <a:lumMod val="75000"/>
                  </a:schemeClr>
                </a:solidFill>
              </a:rPr>
              <a:t>FastAPI i Redis</a:t>
            </a:r>
            <a:endParaRPr lang="en-US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1C0F2-A047-C00C-83FE-EF103F924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from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import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from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fastapi.responses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import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StreamingResponse</a:t>
            </a: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import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asyncio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,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aioredis</a:t>
            </a: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app =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redis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=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aioredis.from_url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("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redis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://localhost")</a:t>
            </a:r>
          </a:p>
          <a:p>
            <a:pPr marL="0" indent="0">
              <a:lnSpc>
                <a:spcPct val="90000"/>
              </a:lnSpc>
              <a:buNone/>
            </a:pPr>
            <a:endParaRPr lang="pl-PL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async def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event_stream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():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pubsub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=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redis.pubsub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await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pubsub.subscribe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("events")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async for msg in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pubsub.listen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():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    if msg["type"] == "message":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        yield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f"data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: {msg['data'].decode()}\n\n"</a:t>
            </a:r>
          </a:p>
          <a:p>
            <a:pPr marL="0" indent="0">
              <a:lnSpc>
                <a:spcPct val="90000"/>
              </a:lnSpc>
              <a:buNone/>
            </a:pP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@app.get("/events")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async def events():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    return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StreamingResponse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event_stream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(), </a:t>
            </a:r>
            <a:r>
              <a:rPr lang="en-US" sz="1100" dirty="0" err="1">
                <a:solidFill>
                  <a:schemeClr val="tx2">
                    <a:lumMod val="75000"/>
                  </a:schemeClr>
                </a:solidFill>
              </a:rPr>
              <a:t>media_type</a:t>
            </a:r>
            <a:r>
              <a:rPr lang="en-US" sz="1100" dirty="0">
                <a:solidFill>
                  <a:schemeClr val="tx2">
                    <a:lumMod val="75000"/>
                  </a:schemeClr>
                </a:solidFill>
              </a:rPr>
              <a:t>="text/event-stream")</a:t>
            </a:r>
          </a:p>
        </p:txBody>
      </p:sp>
    </p:spTree>
    <p:extLst>
      <p:ext uri="{BB962C8B-B14F-4D97-AF65-F5344CB8AC3E}">
        <p14:creationId xmlns:p14="http://schemas.microsoft.com/office/powerpoint/2010/main" val="4251688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2CB9BD-CE28-3159-F69C-3291E216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6873E-3E1C-1132-FF99-B80041F08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pl-PL" sz="2500" dirty="0"/>
              <a:t>Rozwiązania typowych problemów związanych z SSE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F651C-6C2C-52AA-9582-F90230371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pl-PL" dirty="0"/>
              <a:t>Limit połączeń do danego adresu</a:t>
            </a:r>
          </a:p>
          <a:p>
            <a:r>
              <a:rPr lang="pl-PL" dirty="0"/>
              <a:t>Utrzymywanie połączenia oraz problemy z HTTPS</a:t>
            </a:r>
          </a:p>
          <a:p>
            <a:r>
              <a:rPr lang="pl-PL" dirty="0"/>
              <a:t>Obsługa błędów – ponowne podłączenie i obsługa zgubionych zdarzeń</a:t>
            </a:r>
          </a:p>
          <a:p>
            <a:r>
              <a:rPr lang="pl-PL" dirty="0"/>
              <a:t>Skalowanie aplikacji w środowiskach wieloinstancyjnych</a:t>
            </a:r>
          </a:p>
          <a:p>
            <a:r>
              <a:rPr lang="pl-PL" dirty="0"/>
              <a:t>Rozwiązania zabezpieczające przed zalewem zdarzeń (</a:t>
            </a:r>
            <a:r>
              <a:rPr lang="pl-PL" dirty="0" err="1"/>
              <a:t>stampede</a:t>
            </a:r>
            <a:r>
              <a:rPr lang="pl-PL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095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04984-E7F5-42FB-C459-A477144A0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D9E0-1CA9-8951-C43F-3B9235F67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Limit połączeń do danego adresu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9CB99-75AE-86BE-1737-03A810A8A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Użycie certyfikatu SSL / przejście na HTTP/2</a:t>
            </a:r>
          </a:p>
          <a:p>
            <a:pPr>
              <a:lnSpc>
                <a:spcPct val="90000"/>
              </a:lnSpc>
            </a:pPr>
            <a:r>
              <a:rPr lang="pl-PL" dirty="0"/>
              <a:t>Ograniczenie ilości danych w </a:t>
            </a:r>
            <a:r>
              <a:rPr lang="pl-PL" dirty="0" err="1"/>
              <a:t>payload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0F4AF-C46B-CB66-0938-72CCD9F7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EF95-FB7A-EA39-2C44-0F31C7594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Utrzymywanie połączenia oraz problemy z HTTPS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8DD35-92A9-E49C-DACC-96286204B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SSE wymaga stałego połączenia – firewalle, </a:t>
            </a:r>
            <a:r>
              <a:rPr lang="pl-PL" dirty="0" err="1"/>
              <a:t>load</a:t>
            </a:r>
            <a:r>
              <a:rPr lang="pl-PL" dirty="0"/>
              <a:t> </a:t>
            </a:r>
            <a:r>
              <a:rPr lang="pl-PL" dirty="0" err="1"/>
              <a:t>balancery</a:t>
            </a:r>
            <a:r>
              <a:rPr lang="pl-PL" dirty="0"/>
              <a:t> mogą zrywać połączenie.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keep-alive</a:t>
            </a:r>
            <a:r>
              <a:rPr lang="pl-PL" dirty="0"/>
              <a:t>, </a:t>
            </a:r>
            <a:r>
              <a:rPr lang="pl-PL" dirty="0" err="1"/>
              <a:t>reconnect</a:t>
            </a:r>
            <a:r>
              <a:rPr lang="pl-PL" dirty="0"/>
              <a:t> na kliencie (automatyczny), </a:t>
            </a:r>
            <a:r>
              <a:rPr lang="pl-PL" dirty="0" err="1"/>
              <a:t>heartbeat</a:t>
            </a:r>
            <a:r>
              <a:rPr lang="pl-PL" dirty="0"/>
              <a:t> </a:t>
            </a:r>
            <a:r>
              <a:rPr lang="pl-PL" dirty="0" err="1"/>
              <a:t>messages</a:t>
            </a:r>
            <a:r>
              <a:rPr lang="pl-PL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162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6B1E-ACB3-6F3C-1820-3B60E51F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E4AB-F463-BD98-1B2E-087581466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Obsługa błędów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86509-2A6D-1593-053D-37FE182B6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Ponowne podłączenie i obsługa zgubionych zdarzeń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EventSource</a:t>
            </a:r>
            <a:r>
              <a:rPr lang="pl-PL" dirty="0"/>
              <a:t> automatycznie ponawia połączenie</a:t>
            </a:r>
          </a:p>
          <a:p>
            <a:pPr>
              <a:lnSpc>
                <a:spcPct val="90000"/>
              </a:lnSpc>
            </a:pPr>
            <a:r>
              <a:rPr lang="pl-PL" dirty="0"/>
              <a:t>Mechanizm </a:t>
            </a:r>
            <a:r>
              <a:rPr lang="pl-PL" dirty="0" err="1"/>
              <a:t>Last</a:t>
            </a:r>
            <a:r>
              <a:rPr lang="pl-PL" dirty="0"/>
              <a:t>-Event-ID pozwala na wznowienie od konkretnego zdarzenia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serwer musi trzymać bufor zdarzeń i odtwarzać brakujące</a:t>
            </a:r>
          </a:p>
        </p:txBody>
      </p:sp>
    </p:spTree>
    <p:extLst>
      <p:ext uri="{BB962C8B-B14F-4D97-AF65-F5344CB8AC3E}">
        <p14:creationId xmlns:p14="http://schemas.microsoft.com/office/powerpoint/2010/main" val="4040742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822-D16A-28E1-D75A-FA13975D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D814-EAE6-E55C-7E37-BEEF778FE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Skalowanie aplikacji w środowiskach wieloinstancyjnych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B5019-DBFB-B562-6F46-B9F432FD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Problem: połączenia do różnych instancji 👉 brak globalnej konsystencji.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Redis</a:t>
            </a:r>
            <a:r>
              <a:rPr lang="pl-PL" dirty="0"/>
              <a:t>/Kafka jako </a:t>
            </a:r>
            <a:r>
              <a:rPr lang="pl-PL" dirty="0" err="1"/>
              <a:t>message</a:t>
            </a:r>
            <a:r>
              <a:rPr lang="pl-PL" dirty="0"/>
              <a:t> broker, </a:t>
            </a:r>
            <a:r>
              <a:rPr lang="pl-PL" dirty="0" err="1"/>
              <a:t>sticky</a:t>
            </a:r>
            <a:r>
              <a:rPr lang="pl-PL" dirty="0"/>
              <a:t> </a:t>
            </a:r>
            <a:r>
              <a:rPr lang="pl-PL" dirty="0" err="1"/>
              <a:t>sessions</a:t>
            </a:r>
            <a:r>
              <a:rPr lang="pl-PL" dirty="0"/>
              <a:t> albo Pub/</a:t>
            </a:r>
            <a:r>
              <a:rPr lang="pl-PL" dirty="0" err="1"/>
              <a:t>Sub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8080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AD6-A860-5093-5509-EB353A636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B5A7-79DD-C477-E3E0-DED2FF66B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Rozwiązania zabezpieczające przed zalewem zdarzeń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8570-D65D-5B4C-243D-2E496946E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Pojęcie „</a:t>
            </a:r>
            <a:r>
              <a:rPr lang="pl-PL" dirty="0" err="1"/>
              <a:t>stampede</a:t>
            </a:r>
            <a:r>
              <a:rPr lang="pl-PL" dirty="0"/>
              <a:t>”</a:t>
            </a:r>
          </a:p>
          <a:p>
            <a:pPr>
              <a:lnSpc>
                <a:spcPct val="90000"/>
              </a:lnSpc>
            </a:pPr>
            <a:r>
              <a:rPr lang="pl-PL" dirty="0"/>
              <a:t>Problem: nagła fala zdarzeń przeciąża klienta i serwer.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throttling</a:t>
            </a:r>
            <a:r>
              <a:rPr lang="pl-PL" dirty="0"/>
              <a:t>, </a:t>
            </a:r>
            <a:r>
              <a:rPr lang="pl-PL" dirty="0" err="1"/>
              <a:t>batchowanie</a:t>
            </a:r>
            <a:r>
              <a:rPr lang="pl-PL" dirty="0"/>
              <a:t> zdarzeń, </a:t>
            </a:r>
            <a:r>
              <a:rPr lang="pl-PL" dirty="0" err="1"/>
              <a:t>deduplikacja</a:t>
            </a:r>
            <a:r>
              <a:rPr lang="pl-PL" dirty="0"/>
              <a:t>, filtry per klient.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315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103A7-EB77-7E43-973D-D46F3C42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0DE2E-A0C2-2CB4-095F-1F624F8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en-US" sz="2300"/>
              <a:t>Zastosowania 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5A9A8-D69D-CC16-AF66-9F69884BA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en-US" dirty="0" err="1"/>
              <a:t>Wzorzec</a:t>
            </a:r>
            <a:r>
              <a:rPr lang="en-US" dirty="0"/>
              <a:t> CQRS (Command Query Responsibility Segregation) </a:t>
            </a:r>
            <a:r>
              <a:rPr lang="en-US" dirty="0" err="1"/>
              <a:t>i</a:t>
            </a:r>
            <a:r>
              <a:rPr lang="en-US" dirty="0"/>
              <a:t> Event sourcing</a:t>
            </a:r>
          </a:p>
          <a:p>
            <a:r>
              <a:rPr lang="en-US" dirty="0"/>
              <a:t>Database changelog (</a:t>
            </a:r>
            <a:r>
              <a:rPr lang="pl-PL" dirty="0"/>
              <a:t>CDC - </a:t>
            </a:r>
            <a:r>
              <a:rPr lang="en-US" dirty="0"/>
              <a:t>Change Data Capture)</a:t>
            </a:r>
          </a:p>
          <a:p>
            <a:r>
              <a:rPr lang="en-US" dirty="0" err="1"/>
              <a:t>Biblioteka</a:t>
            </a:r>
            <a:r>
              <a:rPr lang="en-US" dirty="0"/>
              <a:t> `</a:t>
            </a:r>
            <a:r>
              <a:rPr lang="en-US" dirty="0" err="1"/>
              <a:t>FastStream</a:t>
            </a:r>
            <a:r>
              <a:rPr lang="en-US" dirty="0"/>
              <a:t>`</a:t>
            </a:r>
          </a:p>
        </p:txBody>
      </p:sp>
    </p:spTree>
    <p:extLst>
      <p:ext uri="{BB962C8B-B14F-4D97-AF65-F5344CB8AC3E}">
        <p14:creationId xmlns:p14="http://schemas.microsoft.com/office/powerpoint/2010/main" val="229952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F7E1E-E791-6B40-502B-07DD7DF2B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Podsumowanie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pytania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F8B5D-4CA5-F4B9-0AD4-20C463760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7" y="2133600"/>
            <a:ext cx="7812024" cy="37776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8800" dirty="0"/>
              <a:t>?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817405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09B55-6024-1346-4D6F-D054DFEA2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1" y="1016000"/>
            <a:ext cx="7912100" cy="48952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4400" dirty="0"/>
              <a:t>Dziękuję za uwagę</a:t>
            </a:r>
          </a:p>
          <a:p>
            <a:pPr marL="0" indent="0" algn="ctr">
              <a:buNone/>
            </a:pPr>
            <a:r>
              <a:rPr lang="pl-PL" sz="4400" dirty="0"/>
              <a:t>😁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51103448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742</TotalTime>
  <Words>934</Words>
  <Application>Microsoft Office PowerPoint</Application>
  <PresentationFormat>Pokaz na ekranie (4:3)</PresentationFormat>
  <Paragraphs>145</Paragraphs>
  <Slides>24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24</vt:i4>
      </vt:variant>
    </vt:vector>
  </HeadingPairs>
  <TitlesOfParts>
    <vt:vector size="29" baseType="lpstr">
      <vt:lpstr>Arial</vt:lpstr>
      <vt:lpstr>Century Gothic</vt:lpstr>
      <vt:lpstr>Wingdings</vt:lpstr>
      <vt:lpstr>Wingdings 3</vt:lpstr>
      <vt:lpstr>Wisp</vt:lpstr>
      <vt:lpstr>Nie tylko WebSocket…</vt:lpstr>
      <vt:lpstr>Dzisiejsza tematyka</vt:lpstr>
      <vt:lpstr>Komunikacja w aplikacjach web </vt:lpstr>
      <vt:lpstr>HTTP request-response</vt:lpstr>
      <vt:lpstr>Polling</vt:lpstr>
      <vt:lpstr>Long Polling</vt:lpstr>
      <vt:lpstr>WebSockets</vt:lpstr>
      <vt:lpstr>Server-Sent Events (SSE)</vt:lpstr>
      <vt:lpstr>HTTP/2 Push</vt:lpstr>
      <vt:lpstr>WebSockets    i SSE – Podobieństwa i różnice</vt:lpstr>
      <vt:lpstr>WebSockets    i SSE -  Zastosowania</vt:lpstr>
      <vt:lpstr>Rozwiązania "push" w HTTP1.1 i HTTP/2</vt:lpstr>
      <vt:lpstr>Konfiguracja serwera (Nginx)</vt:lpstr>
      <vt:lpstr>SSE w przeglądarce</vt:lpstr>
      <vt:lpstr>FastAPI i Redis</vt:lpstr>
      <vt:lpstr>Rozwiązania typowych problemów związanych z SSE</vt:lpstr>
      <vt:lpstr>Limit połączeń do danego adresu</vt:lpstr>
      <vt:lpstr>Utrzymywanie połączenia oraz problemy z HTTPS</vt:lpstr>
      <vt:lpstr>Obsługa błędów</vt:lpstr>
      <vt:lpstr>Skalowanie aplikacji w środowiskach wieloinstancyjnych</vt:lpstr>
      <vt:lpstr>Rozwiązania zabezpieczające przed zalewem zdarzeń</vt:lpstr>
      <vt:lpstr>Zastosowania SSE</vt:lpstr>
      <vt:lpstr>Podsumowanie i pytania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Lew</cp:lastModifiedBy>
  <cp:revision>11</cp:revision>
  <dcterms:created xsi:type="dcterms:W3CDTF">2013-01-27T09:14:16Z</dcterms:created>
  <dcterms:modified xsi:type="dcterms:W3CDTF">2025-08-26T20:02:28Z</dcterms:modified>
  <cp:category/>
</cp:coreProperties>
</file>