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26"/>
  </p:notesMasterIdLst>
  <p:sldIdLst>
    <p:sldId id="256" r:id="rId2"/>
    <p:sldId id="257" r:id="rId3"/>
    <p:sldId id="268" r:id="rId4"/>
    <p:sldId id="273" r:id="rId5"/>
    <p:sldId id="269" r:id="rId6"/>
    <p:sldId id="270" r:id="rId7"/>
    <p:sldId id="271" r:id="rId8"/>
    <p:sldId id="272" r:id="rId9"/>
    <p:sldId id="274" r:id="rId10"/>
    <p:sldId id="259" r:id="rId11"/>
    <p:sldId id="276" r:id="rId12"/>
    <p:sldId id="260" r:id="rId13"/>
    <p:sldId id="262" r:id="rId14"/>
    <p:sldId id="261" r:id="rId15"/>
    <p:sldId id="263" r:id="rId16"/>
    <p:sldId id="264" r:id="rId17"/>
    <p:sldId id="281" r:id="rId18"/>
    <p:sldId id="277" r:id="rId19"/>
    <p:sldId id="278" r:id="rId20"/>
    <p:sldId id="279" r:id="rId21"/>
    <p:sldId id="280" r:id="rId22"/>
    <p:sldId id="265" r:id="rId23"/>
    <p:sldId id="266" r:id="rId24"/>
    <p:sldId id="267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585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F28D4F-5AAB-4B09-B283-E382933D1F59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2CDC2EC-8F59-46AC-8065-BCAD53139E35}">
      <dgm:prSet/>
      <dgm:spPr/>
      <dgm:t>
        <a:bodyPr/>
        <a:lstStyle/>
        <a:p>
          <a:r>
            <a:rPr lang="en-US" dirty="0" err="1"/>
            <a:t>klasyczny</a:t>
          </a:r>
          <a:r>
            <a:rPr lang="en-US" dirty="0"/>
            <a:t> model</a:t>
          </a:r>
        </a:p>
      </dgm:t>
    </dgm:pt>
    <dgm:pt modelId="{4446A58A-9B2A-45F2-A172-D15B8B43B07F}" type="parTrans" cxnId="{2CAC4A62-518A-4782-94AF-E2F0E5F76784}">
      <dgm:prSet/>
      <dgm:spPr/>
      <dgm:t>
        <a:bodyPr/>
        <a:lstStyle/>
        <a:p>
          <a:endParaRPr lang="en-US"/>
        </a:p>
      </dgm:t>
    </dgm:pt>
    <dgm:pt modelId="{B5FCCE96-0857-466D-99E3-A055A8DE850B}" type="sibTrans" cxnId="{2CAC4A62-518A-4782-94AF-E2F0E5F76784}">
      <dgm:prSet/>
      <dgm:spPr/>
      <dgm:t>
        <a:bodyPr/>
        <a:lstStyle/>
        <a:p>
          <a:endParaRPr lang="en-US"/>
        </a:p>
      </dgm:t>
    </dgm:pt>
    <dgm:pt modelId="{2CA9AC8A-4CC8-41E4-938A-50C5EA013CB8}">
      <dgm:prSet/>
      <dgm:spPr/>
      <dgm:t>
        <a:bodyPr/>
        <a:lstStyle/>
        <a:p>
          <a:r>
            <a:rPr lang="en-US" dirty="0" err="1"/>
            <a:t>klient</a:t>
          </a:r>
          <a:r>
            <a:rPr lang="en-US" dirty="0"/>
            <a:t> </a:t>
          </a:r>
          <a:r>
            <a:rPr lang="en-US" dirty="0" err="1"/>
            <a:t>pyta</a:t>
          </a:r>
          <a:r>
            <a:rPr lang="pl-PL" dirty="0"/>
            <a:t> - </a:t>
          </a:r>
          <a:r>
            <a:rPr lang="en-US" dirty="0" err="1"/>
            <a:t>serwer</a:t>
          </a:r>
          <a:r>
            <a:rPr lang="en-US" dirty="0"/>
            <a:t> </a:t>
          </a:r>
          <a:r>
            <a:rPr lang="en-US" dirty="0" err="1"/>
            <a:t>odpowiada</a:t>
          </a:r>
          <a:endParaRPr lang="en-US" dirty="0"/>
        </a:p>
      </dgm:t>
    </dgm:pt>
    <dgm:pt modelId="{0338F26C-7CF4-4E39-A7F2-0AE83819F936}" type="parTrans" cxnId="{1C4B25C7-B172-4F89-93B4-80C76F08C224}">
      <dgm:prSet/>
      <dgm:spPr/>
      <dgm:t>
        <a:bodyPr/>
        <a:lstStyle/>
        <a:p>
          <a:endParaRPr lang="en-US"/>
        </a:p>
      </dgm:t>
    </dgm:pt>
    <dgm:pt modelId="{B6E32940-8840-47B8-85D0-B8E86AF1CD02}" type="sibTrans" cxnId="{1C4B25C7-B172-4F89-93B4-80C76F08C224}">
      <dgm:prSet/>
      <dgm:spPr/>
      <dgm:t>
        <a:bodyPr/>
        <a:lstStyle/>
        <a:p>
          <a:endParaRPr lang="en-US"/>
        </a:p>
      </dgm:t>
    </dgm:pt>
    <dgm:pt modelId="{8D44837D-6D77-48A5-AC51-487F1AE6E844}">
      <dgm:prSet/>
      <dgm:spPr/>
      <dgm:t>
        <a:bodyPr/>
        <a:lstStyle/>
        <a:p>
          <a:r>
            <a:rPr lang="en-US" dirty="0" err="1"/>
            <a:t>brak</a:t>
          </a:r>
          <a:r>
            <a:rPr lang="en-US" dirty="0"/>
            <a:t> </a:t>
          </a:r>
          <a:r>
            <a:rPr lang="en-US" dirty="0" err="1"/>
            <a:t>inicjatywy</a:t>
          </a:r>
          <a:r>
            <a:rPr lang="en-US" dirty="0"/>
            <a:t> </a:t>
          </a:r>
          <a:r>
            <a:rPr lang="en-US" dirty="0" err="1"/>
            <a:t>serwera</a:t>
          </a:r>
          <a:endParaRPr lang="en-US" dirty="0"/>
        </a:p>
      </dgm:t>
    </dgm:pt>
    <dgm:pt modelId="{D0479ED3-6610-432C-BBF6-782E530C972F}" type="parTrans" cxnId="{4D9905F0-AE61-4494-B560-600AA17AA17F}">
      <dgm:prSet/>
      <dgm:spPr/>
      <dgm:t>
        <a:bodyPr/>
        <a:lstStyle/>
        <a:p>
          <a:endParaRPr lang="en-US"/>
        </a:p>
      </dgm:t>
    </dgm:pt>
    <dgm:pt modelId="{277AAA6B-5416-461A-BB0A-22DD4EA9A930}" type="sibTrans" cxnId="{4D9905F0-AE61-4494-B560-600AA17AA17F}">
      <dgm:prSet/>
      <dgm:spPr/>
      <dgm:t>
        <a:bodyPr/>
        <a:lstStyle/>
        <a:p>
          <a:endParaRPr lang="en-US"/>
        </a:p>
      </dgm:t>
    </dgm:pt>
    <dgm:pt modelId="{419A9DA7-4CD3-4345-AF43-694027F10F16}" type="pres">
      <dgm:prSet presAssocID="{15F28D4F-5AAB-4B09-B283-E382933D1F5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C41CB2C-7002-4EA6-92C8-EE451AE6B5C0}" type="pres">
      <dgm:prSet presAssocID="{F2CDC2EC-8F59-46AC-8065-BCAD53139E35}" presName="root" presStyleCnt="0"/>
      <dgm:spPr/>
    </dgm:pt>
    <dgm:pt modelId="{DE3554FA-C513-4215-A822-3A91C8A3D6FE}" type="pres">
      <dgm:prSet presAssocID="{F2CDC2EC-8F59-46AC-8065-BCAD53139E35}" presName="rootComposite" presStyleCnt="0"/>
      <dgm:spPr/>
    </dgm:pt>
    <dgm:pt modelId="{C76293D1-7629-4699-8D9B-8A696B93A5A1}" type="pres">
      <dgm:prSet presAssocID="{F2CDC2EC-8F59-46AC-8065-BCAD53139E35}" presName="rootText" presStyleLbl="node1" presStyleIdx="0" presStyleCnt="3"/>
      <dgm:spPr/>
    </dgm:pt>
    <dgm:pt modelId="{A745B92F-9090-4BBF-A7BB-A8A1599AF0D6}" type="pres">
      <dgm:prSet presAssocID="{F2CDC2EC-8F59-46AC-8065-BCAD53139E35}" presName="rootConnector" presStyleLbl="node1" presStyleIdx="0" presStyleCnt="3"/>
      <dgm:spPr/>
    </dgm:pt>
    <dgm:pt modelId="{D71A14FC-729A-463C-A24A-18F9BD436FD8}" type="pres">
      <dgm:prSet presAssocID="{F2CDC2EC-8F59-46AC-8065-BCAD53139E35}" presName="childShape" presStyleCnt="0"/>
      <dgm:spPr/>
    </dgm:pt>
    <dgm:pt modelId="{C53AC567-A9EF-4A77-8958-7BFB53F4F48B}" type="pres">
      <dgm:prSet presAssocID="{2CA9AC8A-4CC8-41E4-938A-50C5EA013CB8}" presName="root" presStyleCnt="0"/>
      <dgm:spPr/>
    </dgm:pt>
    <dgm:pt modelId="{9BF32A94-4164-4836-873F-6B0A050B36C0}" type="pres">
      <dgm:prSet presAssocID="{2CA9AC8A-4CC8-41E4-938A-50C5EA013CB8}" presName="rootComposite" presStyleCnt="0"/>
      <dgm:spPr/>
    </dgm:pt>
    <dgm:pt modelId="{E85EC6A4-0CCA-4A32-B3AA-BAB8431256BB}" type="pres">
      <dgm:prSet presAssocID="{2CA9AC8A-4CC8-41E4-938A-50C5EA013CB8}" presName="rootText" presStyleLbl="node1" presStyleIdx="1" presStyleCnt="3"/>
      <dgm:spPr/>
    </dgm:pt>
    <dgm:pt modelId="{6F5A2E9C-80B1-4F45-BAD4-B9A011556FFA}" type="pres">
      <dgm:prSet presAssocID="{2CA9AC8A-4CC8-41E4-938A-50C5EA013CB8}" presName="rootConnector" presStyleLbl="node1" presStyleIdx="1" presStyleCnt="3"/>
      <dgm:spPr/>
    </dgm:pt>
    <dgm:pt modelId="{606363C4-CBFF-4417-9B29-49AFF86838C8}" type="pres">
      <dgm:prSet presAssocID="{2CA9AC8A-4CC8-41E4-938A-50C5EA013CB8}" presName="childShape" presStyleCnt="0"/>
      <dgm:spPr/>
    </dgm:pt>
    <dgm:pt modelId="{8B47521F-28A2-4DD4-A9D2-51CF8793D0BD}" type="pres">
      <dgm:prSet presAssocID="{8D44837D-6D77-48A5-AC51-487F1AE6E844}" presName="root" presStyleCnt="0"/>
      <dgm:spPr/>
    </dgm:pt>
    <dgm:pt modelId="{D3359DBE-27B4-45DC-BAFA-7617B833BBF5}" type="pres">
      <dgm:prSet presAssocID="{8D44837D-6D77-48A5-AC51-487F1AE6E844}" presName="rootComposite" presStyleCnt="0"/>
      <dgm:spPr/>
    </dgm:pt>
    <dgm:pt modelId="{C365FAFB-830B-4011-B7EC-84BA03C9B176}" type="pres">
      <dgm:prSet presAssocID="{8D44837D-6D77-48A5-AC51-487F1AE6E844}" presName="rootText" presStyleLbl="node1" presStyleIdx="2" presStyleCnt="3"/>
      <dgm:spPr/>
    </dgm:pt>
    <dgm:pt modelId="{B7BA2CBF-7548-4E3D-8458-E0163848FD25}" type="pres">
      <dgm:prSet presAssocID="{8D44837D-6D77-48A5-AC51-487F1AE6E844}" presName="rootConnector" presStyleLbl="node1" presStyleIdx="2" presStyleCnt="3"/>
      <dgm:spPr/>
    </dgm:pt>
    <dgm:pt modelId="{D887A30C-5F04-4D28-9FFB-3B235DFDE2F8}" type="pres">
      <dgm:prSet presAssocID="{8D44837D-6D77-48A5-AC51-487F1AE6E844}" presName="childShape" presStyleCnt="0"/>
      <dgm:spPr/>
    </dgm:pt>
  </dgm:ptLst>
  <dgm:cxnLst>
    <dgm:cxn modelId="{2151A70E-0460-4D3D-9454-A417C645E6BF}" type="presOf" srcId="{8D44837D-6D77-48A5-AC51-487F1AE6E844}" destId="{B7BA2CBF-7548-4E3D-8458-E0163848FD25}" srcOrd="1" destOrd="0" presId="urn:microsoft.com/office/officeart/2005/8/layout/hierarchy3"/>
    <dgm:cxn modelId="{08DB685B-9077-4697-B498-CFBED2768F53}" type="presOf" srcId="{2CA9AC8A-4CC8-41E4-938A-50C5EA013CB8}" destId="{E85EC6A4-0CCA-4A32-B3AA-BAB8431256BB}" srcOrd="0" destOrd="0" presId="urn:microsoft.com/office/officeart/2005/8/layout/hierarchy3"/>
    <dgm:cxn modelId="{2CAC4A62-518A-4782-94AF-E2F0E5F76784}" srcId="{15F28D4F-5AAB-4B09-B283-E382933D1F59}" destId="{F2CDC2EC-8F59-46AC-8065-BCAD53139E35}" srcOrd="0" destOrd="0" parTransId="{4446A58A-9B2A-45F2-A172-D15B8B43B07F}" sibTransId="{B5FCCE96-0857-466D-99E3-A055A8DE850B}"/>
    <dgm:cxn modelId="{180E5D67-695D-4DA1-B706-CBEDD75F32B1}" type="presOf" srcId="{15F28D4F-5AAB-4B09-B283-E382933D1F59}" destId="{419A9DA7-4CD3-4345-AF43-694027F10F16}" srcOrd="0" destOrd="0" presId="urn:microsoft.com/office/officeart/2005/8/layout/hierarchy3"/>
    <dgm:cxn modelId="{1C4B25C7-B172-4F89-93B4-80C76F08C224}" srcId="{15F28D4F-5AAB-4B09-B283-E382933D1F59}" destId="{2CA9AC8A-4CC8-41E4-938A-50C5EA013CB8}" srcOrd="1" destOrd="0" parTransId="{0338F26C-7CF4-4E39-A7F2-0AE83819F936}" sibTransId="{B6E32940-8840-47B8-85D0-B8E86AF1CD02}"/>
    <dgm:cxn modelId="{6839F6CE-F0E6-4B88-9D4C-7D29E17B15B0}" type="presOf" srcId="{F2CDC2EC-8F59-46AC-8065-BCAD53139E35}" destId="{C76293D1-7629-4699-8D9B-8A696B93A5A1}" srcOrd="0" destOrd="0" presId="urn:microsoft.com/office/officeart/2005/8/layout/hierarchy3"/>
    <dgm:cxn modelId="{E24963E7-3BB0-4FB5-BD48-4C7AFE803E3C}" type="presOf" srcId="{8D44837D-6D77-48A5-AC51-487F1AE6E844}" destId="{C365FAFB-830B-4011-B7EC-84BA03C9B176}" srcOrd="0" destOrd="0" presId="urn:microsoft.com/office/officeart/2005/8/layout/hierarchy3"/>
    <dgm:cxn modelId="{C7B7AFEB-3DFD-460B-A95D-3DFC695BFFFC}" type="presOf" srcId="{F2CDC2EC-8F59-46AC-8065-BCAD53139E35}" destId="{A745B92F-9090-4BBF-A7BB-A8A1599AF0D6}" srcOrd="1" destOrd="0" presId="urn:microsoft.com/office/officeart/2005/8/layout/hierarchy3"/>
    <dgm:cxn modelId="{C0664EEE-F8E3-49E7-BAB1-2E0039A2EE26}" type="presOf" srcId="{2CA9AC8A-4CC8-41E4-938A-50C5EA013CB8}" destId="{6F5A2E9C-80B1-4F45-BAD4-B9A011556FFA}" srcOrd="1" destOrd="0" presId="urn:microsoft.com/office/officeart/2005/8/layout/hierarchy3"/>
    <dgm:cxn modelId="{4D9905F0-AE61-4494-B560-600AA17AA17F}" srcId="{15F28D4F-5AAB-4B09-B283-E382933D1F59}" destId="{8D44837D-6D77-48A5-AC51-487F1AE6E844}" srcOrd="2" destOrd="0" parTransId="{D0479ED3-6610-432C-BBF6-782E530C972F}" sibTransId="{277AAA6B-5416-461A-BB0A-22DD4EA9A930}"/>
    <dgm:cxn modelId="{22ACAEC8-7ADD-4890-98FA-B4E572702634}" type="presParOf" srcId="{419A9DA7-4CD3-4345-AF43-694027F10F16}" destId="{8C41CB2C-7002-4EA6-92C8-EE451AE6B5C0}" srcOrd="0" destOrd="0" presId="urn:microsoft.com/office/officeart/2005/8/layout/hierarchy3"/>
    <dgm:cxn modelId="{1DDFDB8A-DC1E-4250-A3C7-1135C6A9F656}" type="presParOf" srcId="{8C41CB2C-7002-4EA6-92C8-EE451AE6B5C0}" destId="{DE3554FA-C513-4215-A822-3A91C8A3D6FE}" srcOrd="0" destOrd="0" presId="urn:microsoft.com/office/officeart/2005/8/layout/hierarchy3"/>
    <dgm:cxn modelId="{50A80FEC-6F31-40B8-9CDB-A76CD3789E71}" type="presParOf" srcId="{DE3554FA-C513-4215-A822-3A91C8A3D6FE}" destId="{C76293D1-7629-4699-8D9B-8A696B93A5A1}" srcOrd="0" destOrd="0" presId="urn:microsoft.com/office/officeart/2005/8/layout/hierarchy3"/>
    <dgm:cxn modelId="{29A116D4-7AB5-498B-BCFC-F357E7C7C6C4}" type="presParOf" srcId="{DE3554FA-C513-4215-A822-3A91C8A3D6FE}" destId="{A745B92F-9090-4BBF-A7BB-A8A1599AF0D6}" srcOrd="1" destOrd="0" presId="urn:microsoft.com/office/officeart/2005/8/layout/hierarchy3"/>
    <dgm:cxn modelId="{25810EB7-E62E-4F39-AAC4-FAAAB8740766}" type="presParOf" srcId="{8C41CB2C-7002-4EA6-92C8-EE451AE6B5C0}" destId="{D71A14FC-729A-463C-A24A-18F9BD436FD8}" srcOrd="1" destOrd="0" presId="urn:microsoft.com/office/officeart/2005/8/layout/hierarchy3"/>
    <dgm:cxn modelId="{E8C9D92B-C996-46A3-9BBB-4AD3BC4F1B43}" type="presParOf" srcId="{419A9DA7-4CD3-4345-AF43-694027F10F16}" destId="{C53AC567-A9EF-4A77-8958-7BFB53F4F48B}" srcOrd="1" destOrd="0" presId="urn:microsoft.com/office/officeart/2005/8/layout/hierarchy3"/>
    <dgm:cxn modelId="{431F73D3-0911-4581-BD77-8E3E591F2647}" type="presParOf" srcId="{C53AC567-A9EF-4A77-8958-7BFB53F4F48B}" destId="{9BF32A94-4164-4836-873F-6B0A050B36C0}" srcOrd="0" destOrd="0" presId="urn:microsoft.com/office/officeart/2005/8/layout/hierarchy3"/>
    <dgm:cxn modelId="{1D551510-1275-4590-8A04-4602BC13FF6A}" type="presParOf" srcId="{9BF32A94-4164-4836-873F-6B0A050B36C0}" destId="{E85EC6A4-0CCA-4A32-B3AA-BAB8431256BB}" srcOrd="0" destOrd="0" presId="urn:microsoft.com/office/officeart/2005/8/layout/hierarchy3"/>
    <dgm:cxn modelId="{E2212915-92CB-4F1A-9CDD-1C0F8D42F0D3}" type="presParOf" srcId="{9BF32A94-4164-4836-873F-6B0A050B36C0}" destId="{6F5A2E9C-80B1-4F45-BAD4-B9A011556FFA}" srcOrd="1" destOrd="0" presId="urn:microsoft.com/office/officeart/2005/8/layout/hierarchy3"/>
    <dgm:cxn modelId="{9E055D6A-B342-4BC5-BB38-B2DEC580773E}" type="presParOf" srcId="{C53AC567-A9EF-4A77-8958-7BFB53F4F48B}" destId="{606363C4-CBFF-4417-9B29-49AFF86838C8}" srcOrd="1" destOrd="0" presId="urn:microsoft.com/office/officeart/2005/8/layout/hierarchy3"/>
    <dgm:cxn modelId="{00E81B43-8F7E-4842-875A-43025CEF1D0F}" type="presParOf" srcId="{419A9DA7-4CD3-4345-AF43-694027F10F16}" destId="{8B47521F-28A2-4DD4-A9D2-51CF8793D0BD}" srcOrd="2" destOrd="0" presId="urn:microsoft.com/office/officeart/2005/8/layout/hierarchy3"/>
    <dgm:cxn modelId="{AC74454F-44EB-49DC-B29B-F5B2C3FF6783}" type="presParOf" srcId="{8B47521F-28A2-4DD4-A9D2-51CF8793D0BD}" destId="{D3359DBE-27B4-45DC-BAFA-7617B833BBF5}" srcOrd="0" destOrd="0" presId="urn:microsoft.com/office/officeart/2005/8/layout/hierarchy3"/>
    <dgm:cxn modelId="{265435DE-0698-40C2-846A-BC55B43EA850}" type="presParOf" srcId="{D3359DBE-27B4-45DC-BAFA-7617B833BBF5}" destId="{C365FAFB-830B-4011-B7EC-84BA03C9B176}" srcOrd="0" destOrd="0" presId="urn:microsoft.com/office/officeart/2005/8/layout/hierarchy3"/>
    <dgm:cxn modelId="{34D40DAF-81EB-4E3A-83D5-78AA4BFAF6C2}" type="presParOf" srcId="{D3359DBE-27B4-45DC-BAFA-7617B833BBF5}" destId="{B7BA2CBF-7548-4E3D-8458-E0163848FD25}" srcOrd="1" destOrd="0" presId="urn:microsoft.com/office/officeart/2005/8/layout/hierarchy3"/>
    <dgm:cxn modelId="{A3FE14DD-12D6-427D-BB08-463723E7F76E}" type="presParOf" srcId="{8B47521F-28A2-4DD4-A9D2-51CF8793D0BD}" destId="{D887A30C-5F04-4D28-9FFB-3B235DFDE2F8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6293D1-7629-4699-8D9B-8A696B93A5A1}">
      <dsp:nvSpPr>
        <dsp:cNvPr id="0" name=""/>
        <dsp:cNvSpPr/>
      </dsp:nvSpPr>
      <dsp:spPr>
        <a:xfrm>
          <a:off x="804" y="1418432"/>
          <a:ext cx="1882768" cy="9413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klasyczny</a:t>
          </a:r>
          <a:r>
            <a:rPr lang="en-US" sz="1900" kern="1200" dirty="0"/>
            <a:t> model</a:t>
          </a:r>
        </a:p>
      </dsp:txBody>
      <dsp:txXfrm>
        <a:off x="28376" y="1446004"/>
        <a:ext cx="1827624" cy="886240"/>
      </dsp:txXfrm>
    </dsp:sp>
    <dsp:sp modelId="{E85EC6A4-0CCA-4A32-B3AA-BAB8431256BB}">
      <dsp:nvSpPr>
        <dsp:cNvPr id="0" name=""/>
        <dsp:cNvSpPr/>
      </dsp:nvSpPr>
      <dsp:spPr>
        <a:xfrm>
          <a:off x="2354265" y="1418432"/>
          <a:ext cx="1882768" cy="9413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klient</a:t>
          </a:r>
          <a:r>
            <a:rPr lang="en-US" sz="1900" kern="1200" dirty="0"/>
            <a:t> </a:t>
          </a:r>
          <a:r>
            <a:rPr lang="en-US" sz="1900" kern="1200" dirty="0" err="1"/>
            <a:t>pyta</a:t>
          </a:r>
          <a:r>
            <a:rPr lang="pl-PL" sz="1900" kern="1200" dirty="0"/>
            <a:t> - </a:t>
          </a:r>
          <a:r>
            <a:rPr lang="en-US" sz="1900" kern="1200" dirty="0" err="1"/>
            <a:t>serwer</a:t>
          </a:r>
          <a:r>
            <a:rPr lang="en-US" sz="1900" kern="1200" dirty="0"/>
            <a:t> </a:t>
          </a:r>
          <a:r>
            <a:rPr lang="en-US" sz="1900" kern="1200" dirty="0" err="1"/>
            <a:t>odpowiada</a:t>
          </a:r>
          <a:endParaRPr lang="en-US" sz="1900" kern="1200" dirty="0"/>
        </a:p>
      </dsp:txBody>
      <dsp:txXfrm>
        <a:off x="2381837" y="1446004"/>
        <a:ext cx="1827624" cy="886240"/>
      </dsp:txXfrm>
    </dsp:sp>
    <dsp:sp modelId="{C365FAFB-830B-4011-B7EC-84BA03C9B176}">
      <dsp:nvSpPr>
        <dsp:cNvPr id="0" name=""/>
        <dsp:cNvSpPr/>
      </dsp:nvSpPr>
      <dsp:spPr>
        <a:xfrm>
          <a:off x="4707726" y="1418432"/>
          <a:ext cx="1882768" cy="9413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brak</a:t>
          </a:r>
          <a:r>
            <a:rPr lang="en-US" sz="1900" kern="1200" dirty="0"/>
            <a:t> </a:t>
          </a:r>
          <a:r>
            <a:rPr lang="en-US" sz="1900" kern="1200" dirty="0" err="1"/>
            <a:t>inicjatywy</a:t>
          </a:r>
          <a:r>
            <a:rPr lang="en-US" sz="1900" kern="1200" dirty="0"/>
            <a:t> </a:t>
          </a:r>
          <a:r>
            <a:rPr lang="en-US" sz="1900" kern="1200" dirty="0" err="1"/>
            <a:t>serwera</a:t>
          </a:r>
          <a:endParaRPr lang="en-US" sz="1900" kern="1200" dirty="0"/>
        </a:p>
      </dsp:txBody>
      <dsp:txXfrm>
        <a:off x="4735298" y="1446004"/>
        <a:ext cx="1827624" cy="886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45B6B-85EF-4A6D-A539-9510F76E1373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53DBF-C71B-4396-8508-919EFBFCEB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8146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53DBF-C71B-4396-8508-919EFBFCEB27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37185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4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6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23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11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60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68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0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93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66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4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7970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98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3095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71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2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5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5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a 4">
            <a:extLst>
              <a:ext uri="{FF2B5EF4-FFF2-40B4-BE49-F238E27FC236}">
                <a16:creationId xmlns:a16="http://schemas.microsoft.com/office/drawing/2014/main" id="{B8C84A54-B91F-C5AC-E2AE-C3F9CA158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3496" y="4471147"/>
            <a:ext cx="3530503" cy="23868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8077" y="1318591"/>
            <a:ext cx="4350697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sz="4800">
                <a:solidFill>
                  <a:schemeClr val="tx2">
                    <a:lumMod val="75000"/>
                  </a:schemeClr>
                </a:solidFill>
              </a:rPr>
              <a:t>Nie tylko WebSocket…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91286" y="1871831"/>
            <a:ext cx="2313426" cy="3199806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Artur Lew,</a:t>
            </a:r>
            <a:br>
              <a:rPr lang="fr-FR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fr-FR" dirty="0" err="1">
                <a:solidFill>
                  <a:schemeClr val="tx2">
                    <a:lumMod val="75000"/>
                  </a:schemeClr>
                </a:solidFill>
              </a:rPr>
              <a:t>PyCon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PL 2025</a:t>
            </a:r>
            <a:endParaRPr lang="pl-PL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pl-PL" sz="1400" dirty="0">
                <a:solidFill>
                  <a:schemeClr val="tx2">
                    <a:lumMod val="75000"/>
                  </a:schemeClr>
                </a:solidFill>
              </a:rPr>
              <a:t>Gliwice 29.08</a:t>
            </a:r>
            <a:endParaRPr lang="fr-FR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B4ACF670-3881-5B8E-FCC3-B5C3FDEE360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flipH="1">
            <a:off x="6293223" y="352740"/>
            <a:ext cx="2192753" cy="21927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pl-PL">
                <a:solidFill>
                  <a:schemeClr val="tx2">
                    <a:lumMod val="75000"/>
                  </a:schemeClr>
                </a:solidFill>
              </a:rPr>
              <a:t>Dzisiejsza tematyka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lang="pl-PL" sz="2000" dirty="0">
                <a:solidFill>
                  <a:schemeClr val="tx2">
                    <a:lumMod val="75000"/>
                  </a:schemeClr>
                </a:solidFill>
              </a:rPr>
              <a:t>Komunikacja w aplikacjach web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pl-PL" sz="2000" dirty="0" err="1">
                <a:solidFill>
                  <a:schemeClr val="tx2">
                    <a:lumMod val="75000"/>
                  </a:schemeClr>
                </a:solidFill>
              </a:rPr>
              <a:t>WebSocket</a:t>
            </a:r>
            <a:r>
              <a:rPr lang="pl-PL" sz="2000" dirty="0">
                <a:solidFill>
                  <a:schemeClr val="tx2">
                    <a:lumMod val="75000"/>
                  </a:schemeClr>
                </a:solidFill>
              </a:rPr>
              <a:t> vs SSE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pl-PL" sz="2000" dirty="0" err="1">
                <a:solidFill>
                  <a:schemeClr val="tx2">
                    <a:lumMod val="75000"/>
                  </a:schemeClr>
                </a:solidFill>
              </a:rPr>
              <a:t>Push</a:t>
            </a:r>
            <a:r>
              <a:rPr lang="pl-PL" sz="2000" dirty="0">
                <a:solidFill>
                  <a:schemeClr val="tx2">
                    <a:lumMod val="75000"/>
                  </a:schemeClr>
                </a:solidFill>
              </a:rPr>
              <a:t> w HTTP/1.1 i HTTP/2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pl-PL" sz="2000" dirty="0">
                <a:solidFill>
                  <a:schemeClr val="tx2">
                    <a:lumMod val="75000"/>
                  </a:schemeClr>
                </a:solidFill>
              </a:rPr>
              <a:t>Konfiguracja serwera (</a:t>
            </a:r>
            <a:r>
              <a:rPr lang="pl-PL" sz="2000" dirty="0" err="1">
                <a:solidFill>
                  <a:schemeClr val="tx2">
                    <a:lumMod val="75000"/>
                  </a:schemeClr>
                </a:solidFill>
              </a:rPr>
              <a:t>Nginx</a:t>
            </a:r>
            <a:r>
              <a:rPr lang="pl-PL" sz="2000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pl-PL" sz="2000" dirty="0">
                <a:solidFill>
                  <a:schemeClr val="tx2">
                    <a:lumMod val="75000"/>
                  </a:schemeClr>
                </a:solidFill>
              </a:rPr>
              <a:t>Implementacja SSE w przeglądarce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pl-PL" sz="2000" dirty="0" err="1">
                <a:solidFill>
                  <a:schemeClr val="tx2">
                    <a:lumMod val="75000"/>
                  </a:schemeClr>
                </a:solidFill>
              </a:rPr>
              <a:t>FastAPI</a:t>
            </a:r>
            <a:r>
              <a:rPr lang="pl-PL" sz="2000" dirty="0">
                <a:solidFill>
                  <a:schemeClr val="tx2">
                    <a:lumMod val="75000"/>
                  </a:schemeClr>
                </a:solidFill>
              </a:rPr>
              <a:t> + SSE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pl-PL" sz="2000" dirty="0">
                <a:solidFill>
                  <a:schemeClr val="tx2">
                    <a:lumMod val="75000"/>
                  </a:schemeClr>
                </a:solidFill>
              </a:rPr>
              <a:t>Rozwiązania typowych problemów związanych z SSE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pl-PL" sz="2000" dirty="0">
                <a:solidFill>
                  <a:schemeClr val="tx2">
                    <a:lumMod val="75000"/>
                  </a:schemeClr>
                </a:solidFill>
              </a:rPr>
              <a:t>Przykładowe zastosowania SSE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pl-PL" sz="2000" dirty="0">
                <a:solidFill>
                  <a:schemeClr val="tx2">
                    <a:lumMod val="75000"/>
                  </a:schemeClr>
                </a:solidFill>
              </a:rPr>
              <a:t>Podsumowanie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12F9C6C-19D1-B6A5-57F8-E1737F6CCA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 flipH="1">
            <a:off x="6293223" y="352740"/>
            <a:ext cx="2192753" cy="21927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CDE1C-C86F-1B4F-8546-FCBA55BB4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A334636B-BCA8-CC22-D06C-71C9BC1C2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935" y="275665"/>
            <a:ext cx="2554941" cy="2554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FE656F-9758-D961-4F0D-294500281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14" y="942108"/>
            <a:ext cx="2644486" cy="4969113"/>
          </a:xfrm>
        </p:spPr>
        <p:txBody>
          <a:bodyPr anchor="ctr">
            <a:normAutofit/>
          </a:bodyPr>
          <a:lstStyle/>
          <a:p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Komunikacja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w </a:t>
            </a:r>
            <a:r>
              <a:rPr lang="pl-PL" sz="2800" dirty="0">
                <a:solidFill>
                  <a:schemeClr val="tx2">
                    <a:lumMod val="75000"/>
                  </a:schemeClr>
                </a:solidFill>
              </a:rPr>
              <a:t>a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plikacjach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web</a:t>
            </a:r>
            <a:br>
              <a:rPr lang="en-US" sz="2800" dirty="0">
                <a:solidFill>
                  <a:schemeClr val="tx2">
                    <a:lumMod val="75000"/>
                  </a:schemeClr>
                </a:solidFill>
              </a:rPr>
            </a:b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E8F9-8998-E91B-CD33-B8E55E55B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HTTP </a:t>
            </a:r>
            <a:r>
              <a:rPr lang="pl-PL" dirty="0">
                <a:solidFill>
                  <a:schemeClr val="tx2">
                    <a:lumMod val="75000"/>
                  </a:schemeClr>
                </a:solidFill>
              </a:rPr>
              <a:t>żądanie – odpowiedź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request-response</a:t>
            </a:r>
            <a:r>
              <a:rPr lang="pl-PL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Polling</a:t>
            </a:r>
            <a:endParaRPr lang="pl-PL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Long Polling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WebSocket</a:t>
            </a:r>
            <a:endParaRPr lang="pl-PL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Server-Sent Events (SSE)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HTTP/2 Push</a:t>
            </a:r>
          </a:p>
        </p:txBody>
      </p:sp>
    </p:spTree>
    <p:extLst>
      <p:ext uri="{BB962C8B-B14F-4D97-AF65-F5344CB8AC3E}">
        <p14:creationId xmlns:p14="http://schemas.microsoft.com/office/powerpoint/2010/main" val="4161063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3F3DF-8CE6-0D37-2C29-6366225BF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68E6-F6E6-A68C-A9ED-31C36759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HTTP request-response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E7377E-98E9-216B-412D-76BEEDE52E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3907116"/>
              </p:ext>
            </p:extLst>
          </p:nvPr>
        </p:nvGraphicFramePr>
        <p:xfrm>
          <a:off x="1943100" y="2133600"/>
          <a:ext cx="65913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Obraz 5">
            <a:extLst>
              <a:ext uri="{FF2B5EF4-FFF2-40B4-BE49-F238E27FC236}">
                <a16:creationId xmlns:a16="http://schemas.microsoft.com/office/drawing/2014/main" id="{F68780C1-46D9-0C55-E6C3-4D48A988B0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1723" y="228600"/>
            <a:ext cx="2662518" cy="266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5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CE10-C28A-26F4-473D-CF8852A5D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>
            <a:extLst>
              <a:ext uri="{FF2B5EF4-FFF2-40B4-BE49-F238E27FC236}">
                <a16:creationId xmlns:a16="http://schemas.microsoft.com/office/drawing/2014/main" id="{96974605-8C58-5003-B731-AF702FF89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410" y="289112"/>
            <a:ext cx="2528047" cy="252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B0885C-EF7E-368E-BF61-DEA323C31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Polling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F098B-B00F-E7A9-E1A2-FF8413A59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K</a:t>
            </a:r>
            <a:r>
              <a:rPr lang="en-US" dirty="0" err="1"/>
              <a:t>lient</a:t>
            </a:r>
            <a:r>
              <a:rPr lang="en-US" dirty="0"/>
              <a:t> </a:t>
            </a:r>
            <a:r>
              <a:rPr lang="en-US" dirty="0" err="1"/>
              <a:t>cyklicznie</a:t>
            </a:r>
            <a:r>
              <a:rPr lang="en-US" dirty="0"/>
              <a:t> </a:t>
            </a:r>
            <a:r>
              <a:rPr lang="en-US" dirty="0" err="1"/>
              <a:t>pyta</a:t>
            </a:r>
            <a:r>
              <a:rPr lang="en-US" dirty="0"/>
              <a:t> </a:t>
            </a:r>
            <a:r>
              <a:rPr lang="en-US" dirty="0" err="1"/>
              <a:t>serwer</a:t>
            </a:r>
            <a:r>
              <a:rPr lang="en-US" dirty="0"/>
              <a:t> o </a:t>
            </a:r>
            <a:r>
              <a:rPr lang="en-US" dirty="0" err="1"/>
              <a:t>nowe</a:t>
            </a:r>
            <a:r>
              <a:rPr lang="en-US" dirty="0"/>
              <a:t> </a:t>
            </a:r>
            <a:r>
              <a:rPr lang="en-US" dirty="0" err="1"/>
              <a:t>dane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dirty="0" err="1"/>
              <a:t>Plusy</a:t>
            </a:r>
            <a:r>
              <a:rPr lang="en-US" dirty="0"/>
              <a:t>: </a:t>
            </a:r>
            <a:r>
              <a:rPr lang="en-US" dirty="0" err="1"/>
              <a:t>prostota</a:t>
            </a:r>
            <a:r>
              <a:rPr lang="en-US" dirty="0"/>
              <a:t> </a:t>
            </a:r>
            <a:r>
              <a:rPr lang="en-US" dirty="0" err="1"/>
              <a:t>implementacji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dirty="0" err="1"/>
              <a:t>Minusy</a:t>
            </a:r>
            <a:r>
              <a:rPr lang="en-US" dirty="0"/>
              <a:t>: </a:t>
            </a:r>
            <a:r>
              <a:rPr lang="en-US" dirty="0" err="1"/>
              <a:t>nieefektywne</a:t>
            </a:r>
            <a:r>
              <a:rPr lang="en-US" dirty="0"/>
              <a:t>, </a:t>
            </a:r>
            <a:r>
              <a:rPr lang="en-US" dirty="0" err="1"/>
              <a:t>opóźnienia</a:t>
            </a:r>
            <a:r>
              <a:rPr lang="en-US" dirty="0"/>
              <a:t>, </a:t>
            </a:r>
            <a:r>
              <a:rPr lang="en-US" dirty="0" err="1"/>
              <a:t>obciążenie</a:t>
            </a:r>
            <a:r>
              <a:rPr lang="en-US" dirty="0"/>
              <a:t> </a:t>
            </a:r>
            <a:r>
              <a:rPr lang="en-US" dirty="0" err="1"/>
              <a:t>serwera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8803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D578-0019-4E98-86B3-5A892F45D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474D-E034-241E-B5BF-913D5900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Long Polling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683FE-CD31-8F58-F419-4F98B4B98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K</a:t>
            </a:r>
            <a:r>
              <a:rPr lang="en-US" dirty="0" err="1"/>
              <a:t>lient</a:t>
            </a:r>
            <a:r>
              <a:rPr lang="en-US" dirty="0"/>
              <a:t> </a:t>
            </a:r>
            <a:r>
              <a:rPr lang="en-US" dirty="0" err="1"/>
              <a:t>utrzymuje</a:t>
            </a:r>
            <a:r>
              <a:rPr lang="en-US" dirty="0"/>
              <a:t> </a:t>
            </a:r>
            <a:r>
              <a:rPr lang="en-US" dirty="0" err="1"/>
              <a:t>żądanie</a:t>
            </a:r>
            <a:r>
              <a:rPr lang="en-US" dirty="0"/>
              <a:t> </a:t>
            </a:r>
            <a:r>
              <a:rPr lang="en-US" dirty="0" err="1"/>
              <a:t>otwarte</a:t>
            </a:r>
            <a:r>
              <a:rPr lang="en-US" dirty="0"/>
              <a:t>, </a:t>
            </a:r>
            <a:r>
              <a:rPr lang="en-US" dirty="0" err="1"/>
              <a:t>serwer</a:t>
            </a:r>
            <a:r>
              <a:rPr lang="en-US" dirty="0"/>
              <a:t> </a:t>
            </a:r>
            <a:r>
              <a:rPr lang="en-US" dirty="0" err="1"/>
              <a:t>odpowiada</a:t>
            </a:r>
            <a:r>
              <a:rPr lang="en-US" dirty="0"/>
              <a:t>, </a:t>
            </a:r>
            <a:r>
              <a:rPr lang="en-US" dirty="0" err="1"/>
              <a:t>gdy</a:t>
            </a:r>
            <a:r>
              <a:rPr lang="en-US" dirty="0"/>
              <a:t> </a:t>
            </a:r>
            <a:r>
              <a:rPr lang="en-US" dirty="0" err="1"/>
              <a:t>pojawi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zdarzenie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dirty="0" err="1"/>
              <a:t>Efektywniejsze</a:t>
            </a:r>
            <a:r>
              <a:rPr lang="en-US" dirty="0"/>
              <a:t> </a:t>
            </a:r>
            <a:r>
              <a:rPr lang="en-US" dirty="0" err="1"/>
              <a:t>niż</a:t>
            </a:r>
            <a:r>
              <a:rPr lang="en-US" dirty="0"/>
              <a:t> polling, ale </a:t>
            </a:r>
            <a:r>
              <a:rPr lang="en-US" dirty="0" err="1"/>
              <a:t>wciąż</a:t>
            </a:r>
            <a:r>
              <a:rPr lang="en-US" dirty="0"/>
              <a:t> </a:t>
            </a:r>
            <a:r>
              <a:rPr lang="en-US" dirty="0" err="1"/>
              <a:t>kosztowne</a:t>
            </a:r>
            <a:r>
              <a:rPr lang="en-US" dirty="0"/>
              <a:t> (</a:t>
            </a:r>
            <a:r>
              <a:rPr lang="en-US" dirty="0" err="1"/>
              <a:t>wiele</a:t>
            </a:r>
            <a:r>
              <a:rPr lang="en-US" dirty="0"/>
              <a:t> </a:t>
            </a:r>
            <a:r>
              <a:rPr lang="en-US" dirty="0" err="1"/>
              <a:t>requestów</a:t>
            </a:r>
            <a:r>
              <a:rPr lang="en-US" dirty="0"/>
              <a:t>).</a:t>
            </a:r>
            <a:endParaRPr lang="pl-PL" dirty="0"/>
          </a:p>
          <a:p>
            <a:pPr>
              <a:lnSpc>
                <a:spcPct val="90000"/>
              </a:lnSpc>
            </a:pPr>
            <a:r>
              <a:rPr lang="pl-PL" dirty="0"/>
              <a:t>Problemy z </a:t>
            </a:r>
            <a:r>
              <a:rPr lang="pl-PL" dirty="0" err="1"/>
              <a:t>timeoutami</a:t>
            </a:r>
            <a:r>
              <a:rPr lang="pl-PL" dirty="0"/>
              <a:t>.</a:t>
            </a:r>
            <a:endParaRPr lang="en-US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D85538E6-205F-A21F-8E36-D80927D2C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029" y="312055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335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F6B6D-3478-CF9B-7914-BFE761B2D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B4AB-422B-1C61-5FC3-E406920B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WebSocket</a:t>
            </a:r>
            <a:r>
              <a:rPr lang="pl-PL" sz="2800" dirty="0"/>
              <a:t>s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D2314-F858-DD41-831E-B6A608C54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835524"/>
            <a:ext cx="6591985" cy="40756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P</a:t>
            </a:r>
            <a:r>
              <a:rPr lang="en-US" dirty="0" err="1"/>
              <a:t>ełny</a:t>
            </a:r>
            <a:r>
              <a:rPr lang="en-US" dirty="0"/>
              <a:t> duplex: </a:t>
            </a:r>
            <a:r>
              <a:rPr lang="en-US" dirty="0" err="1"/>
              <a:t>klient</a:t>
            </a:r>
            <a:r>
              <a:rPr lang="en-US" dirty="0"/>
              <a:t> ↔ </a:t>
            </a:r>
            <a:r>
              <a:rPr lang="en-US" dirty="0" err="1"/>
              <a:t>serwer</a:t>
            </a:r>
            <a:endParaRPr lang="pl-PL" dirty="0"/>
          </a:p>
          <a:p>
            <a:pPr>
              <a:lnSpc>
                <a:spcPct val="90000"/>
              </a:lnSpc>
            </a:pPr>
            <a:r>
              <a:rPr lang="pl-PL" dirty="0"/>
              <a:t>Protokół binarny poza HTTP</a:t>
            </a:r>
          </a:p>
          <a:p>
            <a:pPr>
              <a:lnSpc>
                <a:spcPct val="90000"/>
              </a:lnSpc>
            </a:pPr>
            <a:r>
              <a:rPr lang="pl-PL" dirty="0"/>
              <a:t>Dodatkowa konfiguracja na serwerze (np. nagłówki dla </a:t>
            </a:r>
            <a:r>
              <a:rPr lang="pl-PL" dirty="0" err="1"/>
              <a:t>handshake</a:t>
            </a:r>
            <a:r>
              <a:rPr lang="pl-PL" dirty="0"/>
              <a:t> </a:t>
            </a:r>
            <a:r>
              <a:rPr lang="pl-PL" dirty="0" err="1"/>
              <a:t>WebSocket</a:t>
            </a:r>
            <a:r>
              <a:rPr lang="pl-PL" dirty="0"/>
              <a:t>)</a:t>
            </a:r>
          </a:p>
          <a:p>
            <a:pPr>
              <a:lnSpc>
                <a:spcPct val="90000"/>
              </a:lnSpc>
            </a:pPr>
            <a:r>
              <a:rPr lang="pl-PL" dirty="0"/>
              <a:t>Trudniejsza obsługa autoryzacji i skalowania</a:t>
            </a:r>
          </a:p>
          <a:p>
            <a:pPr>
              <a:lnSpc>
                <a:spcPct val="90000"/>
              </a:lnSpc>
            </a:pPr>
            <a:r>
              <a:rPr lang="en-US" dirty="0" err="1"/>
              <a:t>Złożoność</a:t>
            </a:r>
            <a:r>
              <a:rPr lang="en-US" dirty="0"/>
              <a:t> </a:t>
            </a:r>
            <a:r>
              <a:rPr lang="en-US" dirty="0" err="1"/>
              <a:t>zarządzania</a:t>
            </a:r>
            <a:r>
              <a:rPr lang="en-US" dirty="0"/>
              <a:t> </a:t>
            </a:r>
            <a:r>
              <a:rPr lang="en-US" dirty="0" err="1"/>
              <a:t>połączeniami</a:t>
            </a:r>
            <a:r>
              <a:rPr lang="pl-PL" dirty="0"/>
              <a:t> (konieczność obsługi ponownego połączenia)</a:t>
            </a:r>
          </a:p>
          <a:p>
            <a:pPr>
              <a:lnSpc>
                <a:spcPct val="90000"/>
              </a:lnSpc>
            </a:pPr>
            <a:r>
              <a:rPr lang="pl-PL" dirty="0"/>
              <a:t>Konieczność zdefiniowania albo użycia dedykowanego protokołu wyższego rzędu jak STOMP</a:t>
            </a:r>
          </a:p>
          <a:p>
            <a:pPr>
              <a:lnSpc>
                <a:spcPct val="90000"/>
              </a:lnSpc>
            </a:pPr>
            <a:r>
              <a:rPr lang="pl-PL" dirty="0"/>
              <a:t>Biblioteki wprowadzają swoje abstrakcje które nie do końca są standardowe – np. Socket.IO (np. </a:t>
            </a:r>
            <a:r>
              <a:rPr lang="pl-PL" dirty="0" err="1"/>
              <a:t>fallback</a:t>
            </a:r>
            <a:r>
              <a:rPr lang="pl-PL" dirty="0"/>
              <a:t>)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D5EA635-E5A2-C6A8-6C79-48B2017BFE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3996892" y="352740"/>
            <a:ext cx="2249266" cy="2249266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6557F419-2523-5F3B-0A6A-C7D0E91816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 flipH="1">
            <a:off x="6102422" y="168178"/>
            <a:ext cx="2192753" cy="219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1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7FD0E-9E0A-7EA7-F381-B7EC0D2B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183B9B94-24B0-C674-EF7C-4893751EC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824" y="255494"/>
            <a:ext cx="2393576" cy="2393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16602E-96E5-859D-F570-5D825D2D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Server-Sent Events (SSE)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351ED-7C50-69E6-B062-775AF76D1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J</a:t>
            </a:r>
            <a:r>
              <a:rPr lang="en-US" dirty="0" err="1"/>
              <a:t>ednokierunkow</a:t>
            </a:r>
            <a:r>
              <a:rPr lang="pl-PL" dirty="0"/>
              <a:t>a komunikacja</a:t>
            </a:r>
            <a:r>
              <a:rPr lang="en-US" dirty="0"/>
              <a:t>: </a:t>
            </a:r>
            <a:r>
              <a:rPr lang="en-US" dirty="0" err="1"/>
              <a:t>serwer</a:t>
            </a:r>
            <a:r>
              <a:rPr lang="en-US" dirty="0"/>
              <a:t> </a:t>
            </a:r>
            <a:r>
              <a:rPr lang="pl-PL" dirty="0"/>
              <a:t>👉</a:t>
            </a:r>
            <a:r>
              <a:rPr lang="en-US" dirty="0"/>
              <a:t> </a:t>
            </a:r>
            <a:r>
              <a:rPr lang="en-US" dirty="0" err="1"/>
              <a:t>klient</a:t>
            </a:r>
            <a:endParaRPr lang="pl-PL" dirty="0"/>
          </a:p>
          <a:p>
            <a:pPr>
              <a:lnSpc>
                <a:spcPct val="90000"/>
              </a:lnSpc>
            </a:pPr>
            <a:r>
              <a:rPr lang="pl-PL" dirty="0"/>
              <a:t>Wbudowana implementacja dostępna w każdej przeglądarce</a:t>
            </a:r>
          </a:p>
          <a:p>
            <a:pPr>
              <a:lnSpc>
                <a:spcPct val="90000"/>
              </a:lnSpc>
            </a:pPr>
            <a:r>
              <a:rPr lang="pl-PL" dirty="0"/>
              <a:t>Protokół tekstowy</a:t>
            </a:r>
          </a:p>
          <a:p>
            <a:pPr>
              <a:lnSpc>
                <a:spcPct val="90000"/>
              </a:lnSpc>
            </a:pPr>
            <a:r>
              <a:rPr lang="pl-PL" dirty="0"/>
              <a:t>Kompatybilne z większością serwerów </a:t>
            </a:r>
            <a:r>
              <a:rPr lang="pl-PL" dirty="0" err="1"/>
              <a:t>proxy</a:t>
            </a:r>
            <a:r>
              <a:rPr lang="pl-PL" dirty="0"/>
              <a:t> i firewall</a:t>
            </a:r>
          </a:p>
          <a:p>
            <a:pPr>
              <a:lnSpc>
                <a:spcPct val="90000"/>
              </a:lnSpc>
            </a:pPr>
            <a:r>
              <a:rPr lang="pl-PL" dirty="0"/>
              <a:t>Można wysyłać różne zdarzenia w tym samym kanale (event:)</a:t>
            </a:r>
          </a:p>
          <a:p>
            <a:pPr>
              <a:lnSpc>
                <a:spcPct val="90000"/>
              </a:lnSpc>
            </a:pPr>
            <a:r>
              <a:rPr lang="pl-PL" dirty="0"/>
              <a:t>P</a:t>
            </a:r>
            <a:r>
              <a:rPr lang="en-US" dirty="0" err="1"/>
              <a:t>rostota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niezawodność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68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2F4BE-E7F7-7035-1EBA-46F46A3EC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764D-CFA8-6FE9-0A17-AF6DC13E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HTTP/2 Push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A892C-F51E-2EF8-4BF8-4E594E23E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S</a:t>
            </a:r>
            <a:r>
              <a:rPr lang="en-US" dirty="0" err="1"/>
              <a:t>erwer</a:t>
            </a:r>
            <a:r>
              <a:rPr lang="en-US" dirty="0"/>
              <a:t> m</a:t>
            </a:r>
            <a:r>
              <a:rPr lang="pl-PL" dirty="0" err="1"/>
              <a:t>oże</a:t>
            </a:r>
            <a:r>
              <a:rPr lang="en-US" dirty="0"/>
              <a:t> </a:t>
            </a:r>
            <a:r>
              <a:rPr lang="en-US" dirty="0" err="1"/>
              <a:t>wysłać</a:t>
            </a:r>
            <a:r>
              <a:rPr lang="en-US" dirty="0"/>
              <a:t> </a:t>
            </a:r>
            <a:r>
              <a:rPr lang="en-US" dirty="0" err="1"/>
              <a:t>dodatkowe</a:t>
            </a:r>
            <a:r>
              <a:rPr lang="en-US" dirty="0"/>
              <a:t> </a:t>
            </a:r>
            <a:r>
              <a:rPr lang="en-US" dirty="0" err="1"/>
              <a:t>zasoby</a:t>
            </a:r>
            <a:r>
              <a:rPr lang="en-US" dirty="0"/>
              <a:t> </a:t>
            </a:r>
            <a:r>
              <a:rPr lang="en-US" dirty="0" err="1"/>
              <a:t>klientowi</a:t>
            </a:r>
            <a:endParaRPr lang="pl-PL" dirty="0"/>
          </a:p>
          <a:p>
            <a:pPr>
              <a:lnSpc>
                <a:spcPct val="90000"/>
              </a:lnSpc>
            </a:pPr>
            <a:r>
              <a:rPr lang="pl-PL" dirty="0"/>
              <a:t>Wycofane ze specyfikacji</a:t>
            </a:r>
            <a:endParaRPr lang="en-US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A561EA1-2456-327C-67B4-DE43BCC389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 flipH="1">
            <a:off x="5878786" y="369027"/>
            <a:ext cx="2192753" cy="2192753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FFABE833-85D8-2BEB-E887-C4D16F0CB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091" y="640445"/>
            <a:ext cx="1280890" cy="128089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40CC6BEA-46A5-3FA5-55DB-8B341D443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3124" y="2299446"/>
            <a:ext cx="2386853" cy="238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45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4F929-1A36-334E-251B-2FA98493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2A11E0-9BC7-D5B6-3F16-F1B810B71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en-US" sz="2500">
                <a:solidFill>
                  <a:schemeClr val="tx2">
                    <a:lumMod val="75000"/>
                  </a:schemeClr>
                </a:solidFill>
              </a:rPr>
              <a:t>WebSockets </a:t>
            </a:r>
            <a:r>
              <a:rPr lang="pl-PL" sz="2500">
                <a:solidFill>
                  <a:schemeClr val="tx2">
                    <a:lumMod val="75000"/>
                  </a:schemeClr>
                </a:solidFill>
              </a:rPr>
              <a:t>   </a:t>
            </a:r>
            <a:r>
              <a:rPr lang="en-US" sz="2500">
                <a:solidFill>
                  <a:schemeClr val="tx2">
                    <a:lumMod val="75000"/>
                  </a:schemeClr>
                </a:solidFill>
              </a:rPr>
              <a:t>i </a:t>
            </a:r>
            <a:r>
              <a:rPr lang="pl-PL" sz="2500">
                <a:solidFill>
                  <a:schemeClr val="tx2">
                    <a:lumMod val="75000"/>
                  </a:schemeClr>
                </a:solidFill>
              </a:rPr>
              <a:t>SSE – Podobieństwa i różnice</a:t>
            </a:r>
            <a:endParaRPr lang="en-US" sz="25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" name="Obraz 5">
            <a:extLst>
              <a:ext uri="{FF2B5EF4-FFF2-40B4-BE49-F238E27FC236}">
                <a16:creationId xmlns:a16="http://schemas.microsoft.com/office/drawing/2014/main" id="{9268F8EC-EF9A-E9D6-B925-C91A166F3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418" y="315527"/>
            <a:ext cx="2397289" cy="23972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0BCDB-3665-4311-937F-0F9627B93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dirty="0"/>
              <a:t>Podobieństwa:</a:t>
            </a:r>
          </a:p>
          <a:p>
            <a:pPr>
              <a:lnSpc>
                <a:spcPct val="90000"/>
              </a:lnSpc>
            </a:pPr>
            <a:r>
              <a:rPr lang="pl-PL" dirty="0"/>
              <a:t>Umożliwiają komunikację w czasie rzeczywistym.</a:t>
            </a:r>
          </a:p>
          <a:p>
            <a:pPr>
              <a:lnSpc>
                <a:spcPct val="90000"/>
              </a:lnSpc>
            </a:pPr>
            <a:r>
              <a:rPr lang="pl-PL" dirty="0"/>
              <a:t>Używają jednego otwartego połączenia TCP.</a:t>
            </a:r>
          </a:p>
          <a:p>
            <a:pPr>
              <a:lnSpc>
                <a:spcPct val="90000"/>
              </a:lnSpc>
            </a:pPr>
            <a:endParaRPr lang="pl-PL" dirty="0"/>
          </a:p>
          <a:p>
            <a:pPr marL="0" indent="0">
              <a:lnSpc>
                <a:spcPct val="90000"/>
              </a:lnSpc>
              <a:buNone/>
            </a:pPr>
            <a:endParaRPr lang="pl-PL" dirty="0"/>
          </a:p>
          <a:p>
            <a:pPr marL="0" indent="0">
              <a:lnSpc>
                <a:spcPct val="90000"/>
              </a:lnSpc>
              <a:buNone/>
            </a:pPr>
            <a:r>
              <a:rPr lang="pl-PL" dirty="0"/>
              <a:t>Różnice:</a:t>
            </a:r>
          </a:p>
          <a:p>
            <a:pPr>
              <a:lnSpc>
                <a:spcPct val="90000"/>
              </a:lnSpc>
            </a:pPr>
            <a:r>
              <a:rPr lang="pl-PL" dirty="0" err="1"/>
              <a:t>WebSocket</a:t>
            </a:r>
            <a:r>
              <a:rPr lang="pl-PL" dirty="0"/>
              <a:t>: </a:t>
            </a:r>
            <a:r>
              <a:rPr lang="pl-PL" dirty="0" err="1"/>
              <a:t>full</a:t>
            </a:r>
            <a:r>
              <a:rPr lang="pl-PL" dirty="0"/>
              <a:t>-duplex, protokół niezależny od HTTP po ustanowieniu połączenia (ws://, wss://).</a:t>
            </a:r>
          </a:p>
          <a:p>
            <a:pPr>
              <a:lnSpc>
                <a:spcPct val="90000"/>
              </a:lnSpc>
            </a:pPr>
            <a:r>
              <a:rPr lang="pl-PL" dirty="0"/>
              <a:t>SSE: jednokierunkowy (tylko serwer 👉 klient), działa na standardowym HTTP/1.1.</a:t>
            </a:r>
          </a:p>
          <a:p>
            <a:pPr>
              <a:lnSpc>
                <a:spcPct val="90000"/>
              </a:lnSpc>
            </a:pPr>
            <a:r>
              <a:rPr lang="pl-PL" dirty="0"/>
              <a:t>SSE ma natywne wsparcie przez </a:t>
            </a:r>
            <a:r>
              <a:rPr lang="pl-PL" dirty="0" err="1"/>
              <a:t>EventSource</a:t>
            </a:r>
            <a:r>
              <a:rPr lang="pl-PL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56702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47811-5003-1F35-1FDC-987E2A69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1FE8E4-A21E-6576-FD90-8BA03CCDF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en-US" sz="2500" dirty="0" err="1">
                <a:solidFill>
                  <a:schemeClr val="tx2">
                    <a:lumMod val="75000"/>
                  </a:schemeClr>
                </a:solidFill>
              </a:rPr>
              <a:t>WebSockets</a:t>
            </a:r>
            <a:r>
              <a:rPr lang="pl-PL" sz="2500" dirty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l-PL" sz="25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l-PL" sz="2500" dirty="0">
                <a:solidFill>
                  <a:schemeClr val="tx2">
                    <a:lumMod val="75000"/>
                  </a:schemeClr>
                </a:solidFill>
              </a:rPr>
              <a:t>SSE -  Zastosowania</a:t>
            </a:r>
            <a:endParaRPr lang="en-US" sz="25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" name="Obraz 5">
            <a:extLst>
              <a:ext uri="{FF2B5EF4-FFF2-40B4-BE49-F238E27FC236}">
                <a16:creationId xmlns:a16="http://schemas.microsoft.com/office/drawing/2014/main" id="{9838C5AD-EB1C-8130-CBC5-6BD80B6FF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073" y="377134"/>
            <a:ext cx="2121983" cy="212198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757D8-CA8E-D273-C84F-087E51CD6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anchor="ctr">
            <a:normAutofit/>
          </a:bodyPr>
          <a:lstStyle/>
          <a:p>
            <a:r>
              <a:rPr lang="pl-PL" dirty="0" err="1"/>
              <a:t>WebSocket</a:t>
            </a:r>
            <a:r>
              <a:rPr lang="pl-PL" dirty="0"/>
              <a:t> 👉 chaty, gry </a:t>
            </a:r>
            <a:r>
              <a:rPr lang="pl-PL" dirty="0" err="1"/>
              <a:t>multiplayer</a:t>
            </a:r>
            <a:r>
              <a:rPr lang="pl-PL" dirty="0"/>
              <a:t>, dwukierunkowa synchronizacja</a:t>
            </a:r>
          </a:p>
          <a:p>
            <a:r>
              <a:rPr lang="pl-PL" dirty="0"/>
              <a:t>SSE 👉 powiadomienia, aktualizacje statusów, monitoring</a:t>
            </a:r>
          </a:p>
          <a:p>
            <a:r>
              <a:rPr lang="pl-PL" dirty="0"/>
              <a:t>Zużycie zasobów:</a:t>
            </a:r>
            <a:br>
              <a:rPr lang="pl-PL" dirty="0"/>
            </a:br>
            <a:r>
              <a:rPr lang="pl-PL" dirty="0"/>
              <a:t>SSE 👉 znikome</a:t>
            </a:r>
            <a:br>
              <a:rPr lang="pl-PL" dirty="0"/>
            </a:br>
            <a:r>
              <a:rPr lang="pl-PL" dirty="0"/>
              <a:t>WS 👉 narzut bibliotek i dodatkowego kodu</a:t>
            </a:r>
          </a:p>
        </p:txBody>
      </p:sp>
    </p:spTree>
    <p:extLst>
      <p:ext uri="{BB962C8B-B14F-4D97-AF65-F5344CB8AC3E}">
        <p14:creationId xmlns:p14="http://schemas.microsoft.com/office/powerpoint/2010/main" val="103648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E4CAB-D2B8-A485-5F8D-9108BAE2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6D363-F709-0D88-0DA2-970FB1785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pl-PL" sz="2800" dirty="0">
                <a:solidFill>
                  <a:schemeClr val="tx2">
                    <a:lumMod val="75000"/>
                  </a:schemeClr>
                </a:solidFill>
              </a:rPr>
              <a:t>Rozwiązania "</a:t>
            </a:r>
            <a:r>
              <a:rPr lang="pl-PL" sz="2800" dirty="0" err="1">
                <a:solidFill>
                  <a:schemeClr val="tx2">
                    <a:lumMod val="75000"/>
                  </a:schemeClr>
                </a:solidFill>
              </a:rPr>
              <a:t>push</a:t>
            </a:r>
            <a:r>
              <a:rPr lang="pl-PL" sz="2800" dirty="0">
                <a:solidFill>
                  <a:schemeClr val="tx2">
                    <a:lumMod val="75000"/>
                  </a:schemeClr>
                </a:solidFill>
              </a:rPr>
              <a:t>" w HTTP1.1, HTTP/2</a:t>
            </a:r>
            <a:br>
              <a:rPr lang="pl-PL" sz="2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pl-PL" sz="2800" dirty="0">
                <a:solidFill>
                  <a:schemeClr val="tx2">
                    <a:lumMod val="75000"/>
                  </a:schemeClr>
                </a:solidFill>
              </a:rPr>
              <a:t>i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HTTP/3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A9988-58E5-4A99-8FA0-09D7D1F10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anchor="ctr">
            <a:normAutofit/>
          </a:bodyPr>
          <a:lstStyle/>
          <a:p>
            <a:r>
              <a:rPr lang="en-US" dirty="0"/>
              <a:t>HTTP/1.1: </a:t>
            </a:r>
            <a:r>
              <a:rPr lang="en-US" dirty="0" err="1"/>
              <a:t>brak</a:t>
            </a:r>
            <a:r>
              <a:rPr lang="en-US" dirty="0"/>
              <a:t> </a:t>
            </a:r>
            <a:r>
              <a:rPr lang="en-US" dirty="0" err="1"/>
              <a:t>natywnego</a:t>
            </a:r>
            <a:r>
              <a:rPr lang="en-US" dirty="0"/>
              <a:t> push, </a:t>
            </a:r>
            <a:r>
              <a:rPr lang="en-US" dirty="0" err="1"/>
              <a:t>jedynie</a:t>
            </a:r>
            <a:r>
              <a:rPr lang="en-US" dirty="0"/>
              <a:t> „</a:t>
            </a:r>
            <a:r>
              <a:rPr lang="en-US" dirty="0" err="1"/>
              <a:t>triki</a:t>
            </a:r>
            <a:r>
              <a:rPr lang="en-US" dirty="0"/>
              <a:t>” </a:t>
            </a:r>
            <a:r>
              <a:rPr lang="en-US" dirty="0" err="1"/>
              <a:t>typu</a:t>
            </a:r>
            <a:r>
              <a:rPr lang="en-US" dirty="0"/>
              <a:t> long polling </a:t>
            </a:r>
            <a:r>
              <a:rPr lang="en-US" dirty="0" err="1"/>
              <a:t>czy</a:t>
            </a:r>
            <a:r>
              <a:rPr lang="en-US" dirty="0"/>
              <a:t> SSE.</a:t>
            </a:r>
          </a:p>
          <a:p>
            <a:r>
              <a:rPr lang="en-US" dirty="0"/>
              <a:t>HTTP/2: </a:t>
            </a:r>
            <a:r>
              <a:rPr lang="en-US" dirty="0" err="1"/>
              <a:t>wprowadził</a:t>
            </a:r>
            <a:r>
              <a:rPr lang="en-US" dirty="0"/>
              <a:t> Server Push (np. </a:t>
            </a:r>
            <a:r>
              <a:rPr lang="en-US" dirty="0" err="1"/>
              <a:t>serwer</a:t>
            </a:r>
            <a:r>
              <a:rPr lang="en-US" dirty="0"/>
              <a:t> </a:t>
            </a:r>
            <a:r>
              <a:rPr lang="en-US" dirty="0" err="1"/>
              <a:t>może</a:t>
            </a:r>
            <a:r>
              <a:rPr lang="en-US" dirty="0"/>
              <a:t> </a:t>
            </a:r>
            <a:r>
              <a:rPr lang="en-US" dirty="0" err="1"/>
              <a:t>wysłać</a:t>
            </a:r>
            <a:r>
              <a:rPr lang="en-US" dirty="0"/>
              <a:t> CSS/JS </a:t>
            </a:r>
            <a:r>
              <a:rPr lang="en-US" dirty="0" err="1"/>
              <a:t>zanim</a:t>
            </a:r>
            <a:r>
              <a:rPr lang="en-US" dirty="0"/>
              <a:t> </a:t>
            </a:r>
            <a:r>
              <a:rPr lang="en-US" dirty="0" err="1"/>
              <a:t>przeglądarka</a:t>
            </a:r>
            <a:r>
              <a:rPr lang="en-US" dirty="0"/>
              <a:t> </a:t>
            </a:r>
            <a:r>
              <a:rPr lang="en-US" dirty="0" err="1"/>
              <a:t>poprosi</a:t>
            </a:r>
            <a:r>
              <a:rPr lang="en-US" dirty="0"/>
              <a:t>).</a:t>
            </a:r>
          </a:p>
          <a:p>
            <a:r>
              <a:rPr lang="en-US" dirty="0"/>
              <a:t>HTTP/3 (QUIC): focus </a:t>
            </a:r>
            <a:r>
              <a:rPr lang="en-US" dirty="0" err="1"/>
              <a:t>na</a:t>
            </a:r>
            <a:r>
              <a:rPr lang="en-US" dirty="0"/>
              <a:t> multiplexing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niższe</a:t>
            </a:r>
            <a:r>
              <a:rPr lang="en-US" dirty="0"/>
              <a:t> </a:t>
            </a:r>
            <a:r>
              <a:rPr lang="en-US" dirty="0" err="1"/>
              <a:t>opóźnienia</a:t>
            </a:r>
            <a:r>
              <a:rPr lang="en-US" dirty="0"/>
              <a:t>, ale bez Server Push.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Wniosek:</a:t>
            </a:r>
            <a:endParaRPr lang="pl-PL" dirty="0"/>
          </a:p>
          <a:p>
            <a:pPr marL="0" indent="0">
              <a:buNone/>
            </a:pPr>
            <a:r>
              <a:rPr lang="en-US" dirty="0"/>
              <a:t>Server Push w HTTP/2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przyjął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pl-PL" dirty="0"/>
              <a:t>👉</a:t>
            </a:r>
            <a:r>
              <a:rPr lang="en-US" dirty="0"/>
              <a:t> SSE </a:t>
            </a:r>
            <a:r>
              <a:rPr lang="en-US" dirty="0" err="1"/>
              <a:t>i</a:t>
            </a:r>
            <a:r>
              <a:rPr lang="en-US" dirty="0"/>
              <a:t> WebSocket </a:t>
            </a:r>
            <a:r>
              <a:rPr lang="en-US" dirty="0" err="1"/>
              <a:t>nadal</a:t>
            </a:r>
            <a:r>
              <a:rPr lang="en-US" dirty="0"/>
              <a:t> </a:t>
            </a:r>
            <a:r>
              <a:rPr lang="pl-PL" dirty="0"/>
              <a:t>rządzą </a:t>
            </a:r>
            <a:r>
              <a:rPr lang="pl-PL" dirty="0">
                <a:sym typeface="Wingdings" panose="05000000000000000000" pitchFamily="2" charset="2"/>
              </a:rPr>
              <a:t>😁</a:t>
            </a:r>
            <a:endParaRPr lang="en-US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522C332-C6F4-732F-04A7-F14ED93D9C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 flipH="1">
            <a:off x="6293223" y="352740"/>
            <a:ext cx="2192753" cy="219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1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BA951-8D13-96CF-A748-0677AD93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437BB-DCD8-F559-5F73-5ACA43DD5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18" y="645106"/>
            <a:ext cx="2737709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2800"/>
              <a:t>Konfiguracja serwera (Nginx)</a:t>
            </a:r>
            <a:endParaRPr lang="en-US" sz="28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C19A4-2B7B-40B4-ACEC-BCE1EF991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918" y="2133600"/>
            <a:ext cx="2737709" cy="3759253"/>
          </a:xfrm>
        </p:spPr>
        <p:txBody>
          <a:bodyPr>
            <a:normAutofit/>
          </a:bodyPr>
          <a:lstStyle/>
          <a:p>
            <a:r>
              <a:rPr lang="pl-PL" dirty="0"/>
              <a:t>Problem: </a:t>
            </a:r>
            <a:r>
              <a:rPr lang="pl-PL" dirty="0" err="1"/>
              <a:t>Nginx</a:t>
            </a:r>
            <a:r>
              <a:rPr lang="pl-PL" dirty="0"/>
              <a:t> może buforować odpowiedzi 👉 SSE przestaje działać.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AEE1462-1E9E-B08F-80FE-3EB66BFCA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657" y="1082609"/>
            <a:ext cx="5215183" cy="4367715"/>
          </a:xfrm>
          <a:prstGeom prst="rect">
            <a:avLst/>
          </a:prstGeom>
        </p:spPr>
      </p:pic>
      <p:sp>
        <p:nvSpPr>
          <p:cNvPr id="35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FB10D1A-5A72-4412-5A82-3FE31F7427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 flipH="1">
            <a:off x="6293223" y="352740"/>
            <a:ext cx="2192753" cy="219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90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07E38-70D6-D161-6229-E92DB189A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048B7-4355-0C8E-5D80-2DF6C3B1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14" y="942108"/>
            <a:ext cx="2305006" cy="4969113"/>
          </a:xfrm>
        </p:spPr>
        <p:txBody>
          <a:bodyPr anchor="ctr">
            <a:normAutofit/>
          </a:bodyPr>
          <a:lstStyle/>
          <a:p>
            <a:r>
              <a:rPr lang="pl-PL" sz="2500" dirty="0">
                <a:solidFill>
                  <a:schemeClr val="tx2">
                    <a:lumMod val="75000"/>
                  </a:schemeClr>
                </a:solidFill>
              </a:rPr>
              <a:t>SSE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</a:rPr>
              <a:t> w </a:t>
            </a:r>
            <a:r>
              <a:rPr lang="en-US" sz="2500" dirty="0" err="1">
                <a:solidFill>
                  <a:schemeClr val="tx2">
                    <a:lumMod val="75000"/>
                  </a:schemeClr>
                </a:solidFill>
              </a:rPr>
              <a:t>przeglądarce</a:t>
            </a:r>
            <a:endParaRPr lang="en-US" sz="25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0" name="Symbol zastępczy zawartości 29">
            <a:extLst>
              <a:ext uri="{FF2B5EF4-FFF2-40B4-BE49-F238E27FC236}">
                <a16:creationId xmlns:a16="http://schemas.microsoft.com/office/drawing/2014/main" id="{A2376BDD-50F7-3482-7D97-25745F23F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2164" y="2092087"/>
            <a:ext cx="4862512" cy="2641802"/>
          </a:xfrm>
          <a:prstGeom prst="rect">
            <a:avLst/>
          </a:prstGeom>
        </p:spPr>
      </p:pic>
      <p:pic>
        <p:nvPicPr>
          <p:cNvPr id="32" name="Obraz 31">
            <a:extLst>
              <a:ext uri="{FF2B5EF4-FFF2-40B4-BE49-F238E27FC236}">
                <a16:creationId xmlns:a16="http://schemas.microsoft.com/office/drawing/2014/main" id="{F040028F-7F35-2F6D-3D60-E71D7B519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301" y="461452"/>
            <a:ext cx="1597926" cy="159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97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11521-D965-AECE-DEDC-71BE385E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D2363-81D2-8A17-5EF1-A042FBDE1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pl-PL" dirty="0" err="1">
                <a:solidFill>
                  <a:schemeClr val="tx2">
                    <a:lumMod val="75000"/>
                  </a:schemeClr>
                </a:solidFill>
              </a:rPr>
              <a:t>FastAPI</a:t>
            </a:r>
            <a:r>
              <a:rPr lang="pl-PL" dirty="0">
                <a:solidFill>
                  <a:schemeClr val="tx2">
                    <a:lumMod val="75000"/>
                  </a:schemeClr>
                </a:solidFill>
              </a:rPr>
              <a:t> i SSE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9" name="Symbol zastępczy zawartości 28">
            <a:extLst>
              <a:ext uri="{FF2B5EF4-FFF2-40B4-BE49-F238E27FC236}">
                <a16:creationId xmlns:a16="http://schemas.microsoft.com/office/drawing/2014/main" id="{0F63EFFB-B0FA-888F-C681-655659532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2513" y="1110081"/>
            <a:ext cx="4941887" cy="4436225"/>
          </a:xfrm>
          <a:prstGeom prst="rect">
            <a:avLst/>
          </a:prstGeom>
        </p:spPr>
      </p:pic>
      <p:pic>
        <p:nvPicPr>
          <p:cNvPr id="30" name="Obraz 29">
            <a:extLst>
              <a:ext uri="{FF2B5EF4-FFF2-40B4-BE49-F238E27FC236}">
                <a16:creationId xmlns:a16="http://schemas.microsoft.com/office/drawing/2014/main" id="{035F5F75-E905-C1AA-B30E-9797660099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 flipH="1">
            <a:off x="6293223" y="352740"/>
            <a:ext cx="2192753" cy="219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88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2CB9BD-CE28-3159-F69C-3291E216F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6873E-3E1C-1132-FF99-B80041F08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416" y="1059872"/>
            <a:ext cx="2259162" cy="4851349"/>
          </a:xfrm>
        </p:spPr>
        <p:txBody>
          <a:bodyPr>
            <a:normAutofit/>
          </a:bodyPr>
          <a:lstStyle/>
          <a:p>
            <a:r>
              <a:rPr lang="pl-PL" sz="2500" dirty="0"/>
              <a:t>Rozwiązania typowych problemów związanych z SSE</a:t>
            </a:r>
            <a:endParaRPr lang="en-US" sz="2500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1D20248-B1A1-93D7-B3FD-DB28CA379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953" y="336176"/>
            <a:ext cx="1660712" cy="166071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F651C-6C2C-52AA-9582-F90230371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276" y="1059872"/>
            <a:ext cx="4668183" cy="4851350"/>
          </a:xfrm>
        </p:spPr>
        <p:txBody>
          <a:bodyPr>
            <a:normAutofit/>
          </a:bodyPr>
          <a:lstStyle/>
          <a:p>
            <a:r>
              <a:rPr lang="pl-PL" dirty="0"/>
              <a:t>Limit połączeń do danego adresu</a:t>
            </a:r>
          </a:p>
          <a:p>
            <a:r>
              <a:rPr lang="pl-PL" dirty="0"/>
              <a:t>Utrzymywanie połączenia oraz problemy z HTTPS</a:t>
            </a:r>
          </a:p>
          <a:p>
            <a:r>
              <a:rPr lang="pl-PL" dirty="0"/>
              <a:t>Obsługa błędów – ponowne podłączenie i obsługa zgubionych zdarzeń</a:t>
            </a:r>
          </a:p>
          <a:p>
            <a:r>
              <a:rPr lang="pl-PL" dirty="0"/>
              <a:t>Skalowanie aplikacji w środowiskach wieloinstancyjnych</a:t>
            </a:r>
          </a:p>
          <a:p>
            <a:r>
              <a:rPr lang="pl-PL" dirty="0"/>
              <a:t>Rozwiązania zabezpieczające przed zalewem zdarzeń (</a:t>
            </a:r>
            <a:r>
              <a:rPr lang="pl-PL" dirty="0" err="1"/>
              <a:t>stampede</a:t>
            </a:r>
            <a:r>
              <a:rPr lang="pl-P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0095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04984-E7F5-42FB-C459-A477144A0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EB057AA6-F431-ACDB-9A5E-8D0FBDE1F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92371" y="457199"/>
            <a:ext cx="2017059" cy="2017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B6D9E0-1CA9-8951-C43F-3B9235F67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500" dirty="0"/>
              <a:t>Limit połączeń do danego adresu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9CB99-75AE-86BE-1737-03A810A8A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Użycie certyfikatu SSL / przejście na HTTP/2</a:t>
            </a:r>
          </a:p>
          <a:p>
            <a:pPr>
              <a:lnSpc>
                <a:spcPct val="90000"/>
              </a:lnSpc>
            </a:pPr>
            <a:r>
              <a:rPr lang="pl-PL" dirty="0"/>
              <a:t>Ograniczenie ilości danych w </a:t>
            </a:r>
            <a:r>
              <a:rPr lang="pl-PL" dirty="0" err="1"/>
              <a:t>payload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785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0F4AF-C46B-CB66-0938-72CCD9F7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558380D0-BF19-2AEB-A64F-2E027B3CA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92371" y="457199"/>
            <a:ext cx="2017059" cy="2017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E5EF95-FB7A-EA39-2C44-0F31C759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500" dirty="0"/>
              <a:t>Utrzymywanie połączenia oraz problemy z HTTPS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8DD35-92A9-E49C-DACC-96286204B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SSE wymaga stałego połączenia – firewalle, </a:t>
            </a:r>
            <a:r>
              <a:rPr lang="pl-PL" dirty="0" err="1"/>
              <a:t>load</a:t>
            </a:r>
            <a:r>
              <a:rPr lang="pl-PL" dirty="0"/>
              <a:t> </a:t>
            </a:r>
            <a:r>
              <a:rPr lang="pl-PL" dirty="0" err="1"/>
              <a:t>balancery</a:t>
            </a:r>
            <a:r>
              <a:rPr lang="pl-PL" dirty="0"/>
              <a:t> mogą zrywać połączenie.  </a:t>
            </a:r>
          </a:p>
          <a:p>
            <a:pPr>
              <a:lnSpc>
                <a:spcPct val="90000"/>
              </a:lnSpc>
            </a:pPr>
            <a:r>
              <a:rPr lang="pl-PL" dirty="0"/>
              <a:t>Rozwiązanie: </a:t>
            </a:r>
            <a:r>
              <a:rPr lang="pl-PL" dirty="0" err="1"/>
              <a:t>keep-alive</a:t>
            </a:r>
            <a:r>
              <a:rPr lang="pl-PL" dirty="0"/>
              <a:t>, </a:t>
            </a:r>
            <a:r>
              <a:rPr lang="pl-PL" dirty="0" err="1"/>
              <a:t>reconnect</a:t>
            </a:r>
            <a:r>
              <a:rPr lang="pl-PL" dirty="0"/>
              <a:t> na kliencie (automatyczny), </a:t>
            </a:r>
            <a:r>
              <a:rPr lang="pl-PL" dirty="0" err="1"/>
              <a:t>heartbeat</a:t>
            </a:r>
            <a:r>
              <a:rPr lang="pl-PL" dirty="0"/>
              <a:t> </a:t>
            </a:r>
            <a:r>
              <a:rPr lang="pl-PL" dirty="0" err="1"/>
              <a:t>messages</a:t>
            </a:r>
            <a:r>
              <a:rPr lang="pl-PL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162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66B1E-ACB3-6F3C-1820-3B60E51F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F5B2A03A-CA46-13A6-3AB2-084B63723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917" y="316006"/>
            <a:ext cx="2133600" cy="213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1BE4AB-F463-BD98-1B2E-087581466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500" dirty="0"/>
              <a:t>Obsługa błędów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86509-2A6D-1593-053D-37FE182B6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Ponowne podłączenie i obsługa zgubionych zdarzeń</a:t>
            </a:r>
          </a:p>
          <a:p>
            <a:pPr>
              <a:lnSpc>
                <a:spcPct val="90000"/>
              </a:lnSpc>
            </a:pPr>
            <a:r>
              <a:rPr lang="pl-PL" dirty="0" err="1"/>
              <a:t>EventSource</a:t>
            </a:r>
            <a:r>
              <a:rPr lang="pl-PL" dirty="0"/>
              <a:t> automatycznie ponawia połączenie</a:t>
            </a:r>
          </a:p>
          <a:p>
            <a:pPr>
              <a:lnSpc>
                <a:spcPct val="90000"/>
              </a:lnSpc>
            </a:pPr>
            <a:r>
              <a:rPr lang="pl-PL" dirty="0"/>
              <a:t>Mechanizm </a:t>
            </a:r>
            <a:r>
              <a:rPr lang="pl-PL" dirty="0" err="1"/>
              <a:t>Last</a:t>
            </a:r>
            <a:r>
              <a:rPr lang="pl-PL" dirty="0"/>
              <a:t>-Event-ID pozwala na wznowienie od konkretnego zdarzenia</a:t>
            </a:r>
          </a:p>
          <a:p>
            <a:pPr>
              <a:lnSpc>
                <a:spcPct val="90000"/>
              </a:lnSpc>
            </a:pPr>
            <a:r>
              <a:rPr lang="pl-PL" dirty="0"/>
              <a:t>Rozwiązanie: serwer musi trzymać bufor zdarzeń i odtwarzać brakujące</a:t>
            </a:r>
          </a:p>
        </p:txBody>
      </p:sp>
    </p:spTree>
    <p:extLst>
      <p:ext uri="{BB962C8B-B14F-4D97-AF65-F5344CB8AC3E}">
        <p14:creationId xmlns:p14="http://schemas.microsoft.com/office/powerpoint/2010/main" val="404074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B822-D16A-28E1-D75A-FA13975D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9A92C1DD-84BC-E88F-B9FF-4C1190F6B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434" y="329453"/>
            <a:ext cx="2017059" cy="2017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BDD814-EAE6-E55C-7E37-BEEF778F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500" dirty="0"/>
              <a:t>Skalowanie aplikacji w środowiskach wieloinstancyjnych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B5019-DBFB-B562-6F46-B9F432FD0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Problem: połączenia do różnych instancji 👉 brak globalnej konsystencji.  </a:t>
            </a:r>
          </a:p>
          <a:p>
            <a:pPr>
              <a:lnSpc>
                <a:spcPct val="90000"/>
              </a:lnSpc>
            </a:pPr>
            <a:r>
              <a:rPr lang="pl-PL" dirty="0"/>
              <a:t>Rozwiązanie: </a:t>
            </a:r>
            <a:r>
              <a:rPr lang="pl-PL" dirty="0" err="1"/>
              <a:t>Redis</a:t>
            </a:r>
            <a:r>
              <a:rPr lang="pl-PL" dirty="0"/>
              <a:t>/Kafka jako </a:t>
            </a:r>
            <a:r>
              <a:rPr lang="pl-PL" dirty="0" err="1"/>
              <a:t>message</a:t>
            </a:r>
            <a:r>
              <a:rPr lang="pl-PL" dirty="0"/>
              <a:t> broker, </a:t>
            </a:r>
            <a:r>
              <a:rPr lang="pl-PL" dirty="0" err="1"/>
              <a:t>sticky</a:t>
            </a:r>
            <a:r>
              <a:rPr lang="pl-PL" dirty="0"/>
              <a:t> </a:t>
            </a:r>
            <a:r>
              <a:rPr lang="pl-PL" dirty="0" err="1"/>
              <a:t>sessions</a:t>
            </a:r>
            <a:r>
              <a:rPr lang="pl-PL" dirty="0"/>
              <a:t> albo Pub/</a:t>
            </a:r>
            <a:r>
              <a:rPr lang="pl-PL" dirty="0" err="1"/>
              <a:t>Sub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8080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24AD6-A860-5093-5509-EB353A636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az 11">
            <a:extLst>
              <a:ext uri="{FF2B5EF4-FFF2-40B4-BE49-F238E27FC236}">
                <a16:creationId xmlns:a16="http://schemas.microsoft.com/office/drawing/2014/main" id="{F30D248F-21A3-9B19-A457-90879C29B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584" y="389965"/>
            <a:ext cx="2494429" cy="24944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60B5A7-79DD-C477-E3E0-DED2FF66B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500" dirty="0"/>
              <a:t>Rozwiązania zabezpieczające przed zalewem zdarzeń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38570-D65D-5B4C-243D-2E496946E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Pojęcie „</a:t>
            </a:r>
            <a:r>
              <a:rPr lang="pl-PL" dirty="0" err="1"/>
              <a:t>stampede</a:t>
            </a:r>
            <a:r>
              <a:rPr lang="pl-PL" dirty="0"/>
              <a:t>”</a:t>
            </a:r>
          </a:p>
          <a:p>
            <a:pPr>
              <a:lnSpc>
                <a:spcPct val="90000"/>
              </a:lnSpc>
            </a:pPr>
            <a:r>
              <a:rPr lang="pl-PL" dirty="0"/>
              <a:t>Problem: nagła fala zdarzeń przeciąża klienta i serwer.</a:t>
            </a:r>
          </a:p>
          <a:p>
            <a:pPr>
              <a:lnSpc>
                <a:spcPct val="90000"/>
              </a:lnSpc>
            </a:pPr>
            <a:r>
              <a:rPr lang="pl-PL" dirty="0"/>
              <a:t>Rozwiązanie: </a:t>
            </a:r>
            <a:r>
              <a:rPr lang="pl-PL" dirty="0" err="1"/>
              <a:t>throttling</a:t>
            </a:r>
            <a:r>
              <a:rPr lang="pl-PL" dirty="0"/>
              <a:t>, </a:t>
            </a:r>
            <a:r>
              <a:rPr lang="pl-PL" dirty="0" err="1"/>
              <a:t>batchowanie</a:t>
            </a:r>
            <a:r>
              <a:rPr lang="pl-PL" dirty="0"/>
              <a:t> zdarzeń, </a:t>
            </a:r>
            <a:r>
              <a:rPr lang="pl-PL" dirty="0" err="1"/>
              <a:t>deduplikacja</a:t>
            </a:r>
            <a:r>
              <a:rPr lang="pl-PL" dirty="0"/>
              <a:t>, filtry per klient.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315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103A7-EB77-7E43-973D-D46F3C42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DE2E-A0C2-2CB4-095F-1F624F8E8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416" y="1059872"/>
            <a:ext cx="2259162" cy="4851349"/>
          </a:xfrm>
        </p:spPr>
        <p:txBody>
          <a:bodyPr>
            <a:normAutofit/>
          </a:bodyPr>
          <a:lstStyle/>
          <a:p>
            <a:r>
              <a:rPr lang="pl-PL" sz="2300" dirty="0"/>
              <a:t>Przykładowe z</a:t>
            </a:r>
            <a:r>
              <a:rPr lang="en-US" sz="2300" dirty="0" err="1"/>
              <a:t>astosowania</a:t>
            </a:r>
            <a:r>
              <a:rPr lang="en-US" sz="2300" dirty="0"/>
              <a:t> SSE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5A9A8-D69D-CC16-AF66-9F69884BA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276" y="1059872"/>
            <a:ext cx="4668183" cy="4851350"/>
          </a:xfrm>
        </p:spPr>
        <p:txBody>
          <a:bodyPr>
            <a:normAutofit/>
          </a:bodyPr>
          <a:lstStyle/>
          <a:p>
            <a:r>
              <a:rPr lang="en-US" dirty="0" err="1"/>
              <a:t>Wzorzec</a:t>
            </a:r>
            <a:r>
              <a:rPr lang="en-US" dirty="0"/>
              <a:t> CQRS (Command Query Responsibility Segregation) </a:t>
            </a:r>
            <a:r>
              <a:rPr lang="en-US" dirty="0" err="1"/>
              <a:t>i</a:t>
            </a:r>
            <a:r>
              <a:rPr lang="en-US" dirty="0"/>
              <a:t> Event sourcing</a:t>
            </a:r>
          </a:p>
          <a:p>
            <a:r>
              <a:rPr lang="en-US" dirty="0"/>
              <a:t>Database changelog (</a:t>
            </a:r>
            <a:r>
              <a:rPr lang="pl-PL" dirty="0"/>
              <a:t>CDC - </a:t>
            </a:r>
            <a:r>
              <a:rPr lang="en-US" dirty="0"/>
              <a:t>Change Data Capture)</a:t>
            </a:r>
            <a:endParaRPr lang="pl-PL" dirty="0"/>
          </a:p>
          <a:p>
            <a:r>
              <a:rPr lang="pl-PL" dirty="0"/>
              <a:t>Użycie razem z </a:t>
            </a:r>
            <a:r>
              <a:rPr lang="pl-PL" dirty="0" err="1"/>
              <a:t>Conflict-free</a:t>
            </a:r>
            <a:r>
              <a:rPr lang="pl-PL" dirty="0"/>
              <a:t> </a:t>
            </a:r>
            <a:r>
              <a:rPr lang="pl-PL" dirty="0" err="1"/>
              <a:t>Replicated</a:t>
            </a:r>
            <a:r>
              <a:rPr lang="pl-PL" dirty="0"/>
              <a:t> Data </a:t>
            </a:r>
            <a:r>
              <a:rPr lang="pl-PL" dirty="0" err="1"/>
              <a:t>Types</a:t>
            </a:r>
            <a:endParaRPr lang="en-US" dirty="0"/>
          </a:p>
          <a:p>
            <a:r>
              <a:rPr lang="en-US" dirty="0" err="1"/>
              <a:t>Biblioteka</a:t>
            </a:r>
            <a:r>
              <a:rPr lang="en-US" dirty="0"/>
              <a:t> `</a:t>
            </a:r>
            <a:r>
              <a:rPr lang="en-US" dirty="0" err="1"/>
              <a:t>FastStream</a:t>
            </a:r>
            <a:r>
              <a:rPr lang="en-US" dirty="0"/>
              <a:t>`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1B75F6D-F04C-FB9E-2BF9-5507E7EE63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 flipH="1">
            <a:off x="6293223" y="352740"/>
            <a:ext cx="2192753" cy="219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21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>
            <a:extLst>
              <a:ext uri="{FF2B5EF4-FFF2-40B4-BE49-F238E27FC236}">
                <a16:creationId xmlns:a16="http://schemas.microsoft.com/office/drawing/2014/main" id="{B6F7D07D-164D-66CC-A445-3F9C47734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990" y="485775"/>
            <a:ext cx="1939738" cy="1939738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F923A00-CDB0-1BB1-8CD6-1ACA65972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439" y="47066"/>
            <a:ext cx="2378448" cy="23784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4F7E1E-E791-6B40-502B-07DD7DF2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8B5D-4CA5-F4B9-0AD4-20C463760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377" y="624110"/>
            <a:ext cx="7812024" cy="528711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l-PL" sz="8800" dirty="0"/>
              <a:t>Q&amp;A…</a:t>
            </a:r>
            <a:endParaRPr lang="en-US" sz="880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CEDE9230-804C-CFA7-8FAB-B96EC8D73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62" y="2369824"/>
            <a:ext cx="1939738" cy="193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05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09B55-6024-1346-4D6F-D054DFEA2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1" y="1016000"/>
            <a:ext cx="7912100" cy="489522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l-PL" sz="4400" dirty="0"/>
              <a:t>Dziękuję za uwagę</a:t>
            </a:r>
          </a:p>
          <a:p>
            <a:pPr marL="0" indent="0" algn="ctr">
              <a:buNone/>
            </a:pPr>
            <a:r>
              <a:rPr lang="pl-PL" sz="4400" dirty="0"/>
              <a:t>😁</a:t>
            </a:r>
            <a:endParaRPr lang="en-US" sz="4400" dirty="0"/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1EFC5476-D63B-5FC1-3C15-7260EE99F4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 flipH="1">
            <a:off x="6293223" y="352740"/>
            <a:ext cx="2192753" cy="2192753"/>
          </a:xfrm>
          <a:prstGeom prst="rect">
            <a:avLst/>
          </a:prstGeom>
        </p:spPr>
      </p:pic>
      <p:pic>
        <p:nvPicPr>
          <p:cNvPr id="7" name="Grafika 6">
            <a:extLst>
              <a:ext uri="{FF2B5EF4-FFF2-40B4-BE49-F238E27FC236}">
                <a16:creationId xmlns:a16="http://schemas.microsoft.com/office/drawing/2014/main" id="{BB03875A-A36F-03B9-83DF-00D1E35D4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6813" y="4160837"/>
            <a:ext cx="1977237" cy="197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3448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921</TotalTime>
  <Words>713</Words>
  <Application>Microsoft Office PowerPoint</Application>
  <PresentationFormat>Pokaz na ekranie (4:3)</PresentationFormat>
  <Paragraphs>107</Paragraphs>
  <Slides>24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24</vt:i4>
      </vt:variant>
    </vt:vector>
  </HeadingPairs>
  <TitlesOfParts>
    <vt:vector size="30" baseType="lpstr">
      <vt:lpstr>Aptos</vt:lpstr>
      <vt:lpstr>Arial</vt:lpstr>
      <vt:lpstr>Century Gothic</vt:lpstr>
      <vt:lpstr>Wingdings</vt:lpstr>
      <vt:lpstr>Wingdings 3</vt:lpstr>
      <vt:lpstr>Wisp</vt:lpstr>
      <vt:lpstr>Nie tylko WebSocket…</vt:lpstr>
      <vt:lpstr>Dzisiejsza tematyka</vt:lpstr>
      <vt:lpstr>Komunikacja w aplikacjach web </vt:lpstr>
      <vt:lpstr>HTTP request-response</vt:lpstr>
      <vt:lpstr>Polling</vt:lpstr>
      <vt:lpstr>Long Polling</vt:lpstr>
      <vt:lpstr>WebSockets</vt:lpstr>
      <vt:lpstr>Server-Sent Events (SSE)</vt:lpstr>
      <vt:lpstr>HTTP/2 Push</vt:lpstr>
      <vt:lpstr>WebSockets    i SSE – Podobieństwa i różnice</vt:lpstr>
      <vt:lpstr>WebSockets    i SSE -  Zastosowania</vt:lpstr>
      <vt:lpstr>Rozwiązania "push" w HTTP1.1, HTTP/2 i HTTP/3</vt:lpstr>
      <vt:lpstr>Konfiguracja serwera (Nginx)</vt:lpstr>
      <vt:lpstr>SSE w przeglądarce</vt:lpstr>
      <vt:lpstr>FastAPI i SSE</vt:lpstr>
      <vt:lpstr>Rozwiązania typowych problemów związanych z SSE</vt:lpstr>
      <vt:lpstr>Limit połączeń do danego adresu</vt:lpstr>
      <vt:lpstr>Utrzymywanie połączenia oraz problemy z HTTPS</vt:lpstr>
      <vt:lpstr>Obsługa błędów</vt:lpstr>
      <vt:lpstr>Skalowanie aplikacji w środowiskach wieloinstancyjnych</vt:lpstr>
      <vt:lpstr>Rozwiązania zabezpieczające przed zalewem zdarzeń</vt:lpstr>
      <vt:lpstr>Przykładowe zastosowania SSE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Artur Lew</cp:lastModifiedBy>
  <cp:revision>45</cp:revision>
  <dcterms:created xsi:type="dcterms:W3CDTF">2013-01-27T09:14:16Z</dcterms:created>
  <dcterms:modified xsi:type="dcterms:W3CDTF">2025-08-28T15:43:08Z</dcterms:modified>
  <cp:category/>
</cp:coreProperties>
</file>