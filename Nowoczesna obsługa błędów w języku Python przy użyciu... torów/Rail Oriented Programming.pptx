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9" r:id="rId6"/>
    <p:sldId id="279" r:id="rId7"/>
    <p:sldId id="270" r:id="rId8"/>
    <p:sldId id="271" r:id="rId9"/>
    <p:sldId id="272" r:id="rId10"/>
    <p:sldId id="273" r:id="rId11"/>
    <p:sldId id="276" r:id="rId12"/>
    <p:sldId id="278" r:id="rId13"/>
    <p:sldId id="260" r:id="rId14"/>
    <p:sldId id="274" r:id="rId15"/>
    <p:sldId id="275" r:id="rId16"/>
    <p:sldId id="261" r:id="rId17"/>
    <p:sldId id="262" r:id="rId18"/>
    <p:sldId id="263" r:id="rId19"/>
    <p:sldId id="264" r:id="rId20"/>
    <p:sldId id="265" r:id="rId21"/>
    <p:sldId id="28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4872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pl-PL" dirty="0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l-PL" dirty="0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4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8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25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53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4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1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6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2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0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  <a:latin typeface="Segoe Pro" panose="020F0502020204030204" pitchFamily="34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  <a:latin typeface="Segoe Pro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Segoe Pro" panose="020F050202020403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17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Segoe Pro" panose="020F0502020204030204" pitchFamily="34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Segoe Pro" panose="020F0502020204030204" pitchFamily="34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Segoe Pro" panose="020F0502020204030204" pitchFamily="34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Segoe Pro" panose="020F0502020204030204" pitchFamily="34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Segoe Pro" panose="020F0502020204030204" pitchFamily="34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Rail Oriented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pl-PL" sz="2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Nowoczesna obsługa błędów w języku </a:t>
            </a:r>
            <a:r>
              <a:rPr lang="pl-PL" sz="26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Python</a:t>
            </a:r>
            <a:r>
              <a:rPr lang="pl-PL" sz="2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przy użyciu... torów :)</a:t>
            </a:r>
          </a:p>
          <a:p>
            <a:pPr>
              <a:lnSpc>
                <a:spcPct val="120000"/>
              </a:lnSpc>
            </a:pPr>
            <a:r>
              <a:rPr lang="fr-F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Artur Lew,</a:t>
            </a:r>
            <a:br>
              <a:rPr lang="fr-FR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fr-FR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PyCon</a:t>
            </a:r>
            <a:r>
              <a:rPr lang="fr-F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PL 2025</a:t>
            </a:r>
            <a:endParaRPr lang="pl-PL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pl-PL">
                <a:latin typeface="Segoe UI Semibold" panose="020B0702040204020203" pitchFamily="34" charset="0"/>
                <a:cs typeface="Segoe UI Semibold" panose="020B0702040204020203" pitchFamily="34" charset="0"/>
              </a:rPr>
              <a:t>Gliwice 30.08</a:t>
            </a:r>
            <a:endParaRPr lang="fr-FR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Grafika 4">
            <a:extLst>
              <a:ext uri="{FF2B5EF4-FFF2-40B4-BE49-F238E27FC236}">
                <a16:creationId xmlns:a16="http://schemas.microsoft.com/office/drawing/2014/main" id="{F42A310B-C839-BEBF-D4EF-5F8D9F1F3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5607" y="959860"/>
            <a:ext cx="3652217" cy="24691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Tematyka na dzisiaj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1. </a:t>
            </a:r>
            <a:r>
              <a:rPr dirty="0" err="1"/>
              <a:t>Obsługa</a:t>
            </a:r>
            <a:r>
              <a:rPr dirty="0"/>
              <a:t> </a:t>
            </a:r>
            <a:r>
              <a:rPr dirty="0" err="1"/>
              <a:t>błędów</a:t>
            </a:r>
            <a:r>
              <a:rPr dirty="0"/>
              <a:t> w </a:t>
            </a:r>
            <a:r>
              <a:rPr dirty="0" err="1"/>
              <a:t>Pythonie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innych</a:t>
            </a:r>
            <a:r>
              <a:rPr dirty="0"/>
              <a:t> </a:t>
            </a:r>
            <a:r>
              <a:rPr dirty="0" err="1"/>
              <a:t>językach</a:t>
            </a:r>
            <a:endParaRPr dirty="0"/>
          </a:p>
          <a:p>
            <a:pPr>
              <a:defRPr sz="2000"/>
            </a:pPr>
            <a:r>
              <a:rPr dirty="0"/>
              <a:t>2. </a:t>
            </a:r>
            <a:r>
              <a:rPr dirty="0" err="1"/>
              <a:t>Wprowadzenie</a:t>
            </a:r>
            <a:r>
              <a:rPr dirty="0"/>
              <a:t> do </a:t>
            </a:r>
            <a:r>
              <a:rPr dirty="0" err="1"/>
              <a:t>wzorca</a:t>
            </a:r>
            <a:r>
              <a:rPr dirty="0"/>
              <a:t> ROP</a:t>
            </a:r>
          </a:p>
          <a:p>
            <a:pPr>
              <a:defRPr sz="2000"/>
            </a:pPr>
            <a:r>
              <a:rPr dirty="0"/>
              <a:t>3. </a:t>
            </a:r>
            <a:r>
              <a:rPr dirty="0" err="1"/>
              <a:t>Biblioteka</a:t>
            </a:r>
            <a:r>
              <a:rPr dirty="0"/>
              <a:t> returns</a:t>
            </a:r>
          </a:p>
          <a:p>
            <a:pPr>
              <a:defRPr sz="2000"/>
            </a:pPr>
            <a:r>
              <a:rPr dirty="0"/>
              <a:t>4. ROP w </a:t>
            </a:r>
            <a:r>
              <a:rPr dirty="0" err="1"/>
              <a:t>aplikacjach</a:t>
            </a:r>
            <a:r>
              <a:rPr dirty="0"/>
              <a:t> </a:t>
            </a:r>
            <a:r>
              <a:rPr dirty="0" err="1"/>
              <a:t>synchronicznych</a:t>
            </a:r>
            <a:endParaRPr dirty="0"/>
          </a:p>
          <a:p>
            <a:pPr>
              <a:defRPr sz="2000"/>
            </a:pPr>
            <a:r>
              <a:rPr dirty="0"/>
              <a:t>5. ROP w </a:t>
            </a:r>
            <a:r>
              <a:rPr dirty="0" err="1"/>
              <a:t>aplikacjach</a:t>
            </a:r>
            <a:r>
              <a:rPr dirty="0"/>
              <a:t> </a:t>
            </a:r>
            <a:r>
              <a:rPr dirty="0" err="1"/>
              <a:t>asynchronicznych</a:t>
            </a:r>
            <a:endParaRPr dirty="0"/>
          </a:p>
          <a:p>
            <a:pPr>
              <a:defRPr sz="2000"/>
            </a:pPr>
            <a:r>
              <a:rPr dirty="0"/>
              <a:t>6. </a:t>
            </a:r>
            <a:r>
              <a:rPr dirty="0" err="1"/>
              <a:t>Podsumowanie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Obsługa</a:t>
            </a:r>
            <a:r>
              <a:rPr dirty="0"/>
              <a:t> </a:t>
            </a:r>
            <a:r>
              <a:rPr dirty="0" err="1"/>
              <a:t>błędów</a:t>
            </a:r>
            <a:r>
              <a:rPr dirty="0"/>
              <a:t> w </a:t>
            </a:r>
            <a:r>
              <a:rPr dirty="0" err="1"/>
              <a:t>Pythonie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try/except/finally – </a:t>
            </a:r>
            <a:r>
              <a:rPr dirty="0" err="1"/>
              <a:t>główny</a:t>
            </a:r>
            <a:r>
              <a:rPr dirty="0"/>
              <a:t> </a:t>
            </a:r>
            <a:r>
              <a:rPr dirty="0" err="1"/>
              <a:t>mechanizm</a:t>
            </a:r>
            <a:endParaRPr dirty="0"/>
          </a:p>
          <a:p>
            <a:pPr>
              <a:defRPr sz="2000"/>
            </a:pPr>
            <a:r>
              <a:rPr dirty="0"/>
              <a:t>Styl EAFP (Easier to Ask Forgiveness than Permission)</a:t>
            </a:r>
            <a:endParaRPr lang="pl-PL" dirty="0"/>
          </a:p>
          <a:p>
            <a:pPr>
              <a:defRPr sz="2000"/>
            </a:pPr>
            <a:r>
              <a:rPr lang="pl-PL" dirty="0"/>
              <a:t>Styl </a:t>
            </a:r>
            <a:r>
              <a:rPr lang="en-US" dirty="0"/>
              <a:t>LBYL </a:t>
            </a:r>
            <a:r>
              <a:rPr lang="pl-PL" dirty="0"/>
              <a:t>(</a:t>
            </a:r>
            <a:r>
              <a:rPr lang="en-US" dirty="0"/>
              <a:t>Look Before You Leap</a:t>
            </a:r>
            <a:r>
              <a:rPr lang="pl-PL" dirty="0"/>
              <a:t>)</a:t>
            </a:r>
            <a:endParaRPr dirty="0"/>
          </a:p>
          <a:p>
            <a:pPr>
              <a:defRPr sz="2000"/>
            </a:pPr>
            <a:r>
              <a:rPr dirty="0" err="1"/>
              <a:t>Problemy</a:t>
            </a:r>
            <a:r>
              <a:rPr dirty="0"/>
              <a:t>: </a:t>
            </a:r>
            <a:r>
              <a:rPr dirty="0" err="1"/>
              <a:t>ukryte</a:t>
            </a:r>
            <a:r>
              <a:rPr dirty="0"/>
              <a:t> </a:t>
            </a:r>
            <a:r>
              <a:rPr dirty="0" err="1"/>
              <a:t>wyjątki</a:t>
            </a:r>
            <a:r>
              <a:rPr dirty="0"/>
              <a:t>, </a:t>
            </a:r>
            <a:r>
              <a:rPr dirty="0" err="1"/>
              <a:t>mieszanie</a:t>
            </a:r>
            <a:r>
              <a:rPr dirty="0"/>
              <a:t> </a:t>
            </a:r>
            <a:r>
              <a:rPr dirty="0" err="1"/>
              <a:t>logiki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obsługi</a:t>
            </a:r>
            <a:r>
              <a:rPr dirty="0"/>
              <a:t> </a:t>
            </a:r>
            <a:r>
              <a:rPr dirty="0" err="1"/>
              <a:t>błędów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Porównanie z innymi językami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Java/C#: checked exceptions</a:t>
            </a:r>
          </a:p>
          <a:p>
            <a:pPr>
              <a:defRPr sz="2000"/>
            </a:pPr>
            <a:r>
              <a:rPr dirty="0"/>
              <a:t>Go: (result, error)</a:t>
            </a:r>
          </a:p>
          <a:p>
            <a:pPr>
              <a:defRPr sz="2000"/>
            </a:pPr>
            <a:r>
              <a:rPr dirty="0"/>
              <a:t>Rust: Result&lt;T, E&gt;</a:t>
            </a:r>
            <a:endParaRPr lang="pl-PL" dirty="0"/>
          </a:p>
          <a:p>
            <a:pPr>
              <a:defRPr sz="2000"/>
            </a:pPr>
            <a:r>
              <a:rPr lang="pl-PL" dirty="0"/>
              <a:t>Erlang</a:t>
            </a:r>
            <a:endParaRPr dirty="0"/>
          </a:p>
          <a:p>
            <a:pPr>
              <a:defRPr sz="2000"/>
            </a:pPr>
            <a:r>
              <a:rPr dirty="0"/>
              <a:t>Haskell: Maybe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9F5E7-0838-D78B-662E-FAD7D5C07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BDD5-7343-DDE6-EDD1-ED0685865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Porównanie z innymi językami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FF607-39B1-E0C5-0881-993163B09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Java</a:t>
            </a:r>
            <a:r>
              <a:rPr lang="pl-PL" dirty="0"/>
              <a:t>/C</a:t>
            </a:r>
          </a:p>
          <a:p>
            <a:pPr marL="0" indent="0">
              <a:buNone/>
              <a:defRPr sz="2000"/>
            </a:pPr>
            <a:r>
              <a:rPr lang="pl-PL" dirty="0" err="1"/>
              <a:t>try</a:t>
            </a:r>
            <a:r>
              <a:rPr lang="pl-PL" dirty="0"/>
              <a:t> {</a:t>
            </a:r>
          </a:p>
          <a:p>
            <a:pPr marL="0" indent="0">
              <a:buNone/>
              <a:defRPr sz="2000"/>
            </a:pPr>
            <a:r>
              <a:rPr lang="pl-PL" dirty="0"/>
              <a:t>    </a:t>
            </a:r>
            <a:r>
              <a:rPr lang="pl-PL" dirty="0" err="1"/>
              <a:t>int</a:t>
            </a:r>
            <a:r>
              <a:rPr lang="pl-PL" dirty="0"/>
              <a:t> </a:t>
            </a:r>
            <a:r>
              <a:rPr lang="pl-PL" dirty="0" err="1"/>
              <a:t>result</a:t>
            </a:r>
            <a:r>
              <a:rPr lang="pl-PL" dirty="0"/>
              <a:t> = </a:t>
            </a:r>
            <a:r>
              <a:rPr lang="pl-PL" dirty="0" err="1"/>
              <a:t>divide</a:t>
            </a:r>
            <a:r>
              <a:rPr lang="pl-PL" dirty="0"/>
              <a:t>(10, 0);</a:t>
            </a:r>
          </a:p>
          <a:p>
            <a:pPr marL="0" indent="0">
              <a:buNone/>
              <a:defRPr sz="2000"/>
            </a:pPr>
            <a:r>
              <a:rPr lang="pl-PL" dirty="0"/>
              <a:t>} </a:t>
            </a:r>
            <a:r>
              <a:rPr lang="pl-PL" dirty="0" err="1"/>
              <a:t>catch</a:t>
            </a:r>
            <a:r>
              <a:rPr lang="pl-PL" dirty="0"/>
              <a:t> (</a:t>
            </a:r>
            <a:r>
              <a:rPr lang="pl-PL" dirty="0" err="1"/>
              <a:t>ArithmeticException</a:t>
            </a:r>
            <a:r>
              <a:rPr lang="pl-PL" dirty="0"/>
              <a:t> e) {</a:t>
            </a:r>
          </a:p>
          <a:p>
            <a:pPr marL="0" indent="0">
              <a:buNone/>
              <a:defRPr sz="2000"/>
            </a:pPr>
            <a:r>
              <a:rPr lang="pl-PL" dirty="0"/>
              <a:t>    </a:t>
            </a:r>
            <a:r>
              <a:rPr lang="pl-PL" dirty="0" err="1"/>
              <a:t>System.out.println</a:t>
            </a:r>
            <a:r>
              <a:rPr lang="pl-PL" dirty="0"/>
              <a:t>("Error: " + </a:t>
            </a:r>
            <a:r>
              <a:rPr lang="pl-PL" dirty="0" err="1"/>
              <a:t>e.getMessage</a:t>
            </a:r>
            <a:r>
              <a:rPr lang="pl-PL" dirty="0"/>
              <a:t>());</a:t>
            </a:r>
          </a:p>
          <a:p>
            <a:pPr marL="0" indent="0">
              <a:buNone/>
              <a:defRPr sz="2000"/>
            </a:pPr>
            <a:r>
              <a:rPr lang="pl-P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480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333D07-B94A-AFBA-ABAF-56ED0D513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Porównanie z innymi językami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271109F-6279-035D-3499-D65123620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Scala</a:t>
            </a:r>
          </a:p>
          <a:p>
            <a:pPr marL="0" indent="0">
              <a:buNone/>
            </a:pPr>
            <a:r>
              <a:rPr lang="pl-PL" dirty="0"/>
              <a:t>import </a:t>
            </a:r>
            <a:r>
              <a:rPr lang="pl-PL" dirty="0" err="1"/>
              <a:t>scala.util</a:t>
            </a:r>
            <a:r>
              <a:rPr lang="pl-PL" dirty="0"/>
              <a:t>.{</a:t>
            </a:r>
            <a:r>
              <a:rPr lang="pl-PL" dirty="0" err="1"/>
              <a:t>Try</a:t>
            </a:r>
            <a:r>
              <a:rPr lang="pl-PL" dirty="0"/>
              <a:t>, </a:t>
            </a:r>
            <a:r>
              <a:rPr lang="pl-PL" dirty="0" err="1"/>
              <a:t>Success</a:t>
            </a:r>
            <a:r>
              <a:rPr lang="pl-PL" dirty="0"/>
              <a:t>, </a:t>
            </a:r>
            <a:r>
              <a:rPr lang="pl-PL" dirty="0" err="1"/>
              <a:t>Failure</a:t>
            </a:r>
            <a:r>
              <a:rPr lang="pl-PL" dirty="0"/>
              <a:t>}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def </a:t>
            </a:r>
            <a:r>
              <a:rPr lang="pl-PL" dirty="0" err="1"/>
              <a:t>divide</a:t>
            </a:r>
            <a:r>
              <a:rPr lang="pl-PL" dirty="0"/>
              <a:t>(a: </a:t>
            </a:r>
            <a:r>
              <a:rPr lang="pl-PL" dirty="0" err="1"/>
              <a:t>Int</a:t>
            </a:r>
            <a:r>
              <a:rPr lang="pl-PL" dirty="0"/>
              <a:t>, b: </a:t>
            </a:r>
            <a:r>
              <a:rPr lang="pl-PL" dirty="0" err="1"/>
              <a:t>Int</a:t>
            </a:r>
            <a:r>
              <a:rPr lang="pl-PL" dirty="0"/>
              <a:t>): </a:t>
            </a:r>
            <a:r>
              <a:rPr lang="pl-PL" dirty="0" err="1"/>
              <a:t>Try</a:t>
            </a:r>
            <a:r>
              <a:rPr lang="pl-PL" dirty="0"/>
              <a:t>[</a:t>
            </a:r>
            <a:r>
              <a:rPr lang="pl-PL" dirty="0" err="1"/>
              <a:t>Int</a:t>
            </a:r>
            <a:r>
              <a:rPr lang="pl-PL" dirty="0"/>
              <a:t>] = </a:t>
            </a:r>
            <a:r>
              <a:rPr lang="pl-PL" dirty="0" err="1"/>
              <a:t>Try</a:t>
            </a:r>
            <a:r>
              <a:rPr lang="pl-PL" dirty="0"/>
              <a:t>(a / b)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 err="1"/>
              <a:t>divide</a:t>
            </a:r>
            <a:r>
              <a:rPr lang="pl-PL" dirty="0"/>
              <a:t>(10, 0) </a:t>
            </a:r>
            <a:r>
              <a:rPr lang="pl-PL" dirty="0" err="1"/>
              <a:t>match</a:t>
            </a:r>
            <a:r>
              <a:rPr lang="pl-PL" dirty="0"/>
              <a:t> {</a:t>
            </a:r>
          </a:p>
          <a:p>
            <a:pPr marL="0" indent="0">
              <a:buNone/>
            </a:pPr>
            <a:r>
              <a:rPr lang="pl-PL" dirty="0"/>
              <a:t>  </a:t>
            </a:r>
            <a:r>
              <a:rPr lang="pl-PL" dirty="0" err="1"/>
              <a:t>case</a:t>
            </a:r>
            <a:r>
              <a:rPr lang="pl-PL" dirty="0"/>
              <a:t> </a:t>
            </a:r>
            <a:r>
              <a:rPr lang="pl-PL" dirty="0" err="1"/>
              <a:t>Success</a:t>
            </a:r>
            <a:r>
              <a:rPr lang="pl-PL" dirty="0"/>
              <a:t>(res) =&gt; </a:t>
            </a:r>
            <a:r>
              <a:rPr lang="pl-PL" dirty="0" err="1"/>
              <a:t>println</a:t>
            </a:r>
            <a:r>
              <a:rPr lang="pl-PL" dirty="0"/>
              <a:t>(</a:t>
            </a:r>
            <a:r>
              <a:rPr lang="pl-PL" dirty="0" err="1"/>
              <a:t>s"Result</a:t>
            </a:r>
            <a:r>
              <a:rPr lang="pl-PL" dirty="0"/>
              <a:t>: $res")</a:t>
            </a:r>
          </a:p>
          <a:p>
            <a:pPr marL="0" indent="0">
              <a:buNone/>
            </a:pPr>
            <a:r>
              <a:rPr lang="pl-PL" dirty="0"/>
              <a:t>  </a:t>
            </a:r>
            <a:r>
              <a:rPr lang="pl-PL" dirty="0" err="1"/>
              <a:t>case</a:t>
            </a:r>
            <a:r>
              <a:rPr lang="pl-PL" dirty="0"/>
              <a:t> </a:t>
            </a:r>
            <a:r>
              <a:rPr lang="pl-PL" dirty="0" err="1"/>
              <a:t>Failure</a:t>
            </a:r>
            <a:r>
              <a:rPr lang="pl-PL" dirty="0"/>
              <a:t>(</a:t>
            </a:r>
            <a:r>
              <a:rPr lang="pl-PL" dirty="0" err="1"/>
              <a:t>err</a:t>
            </a:r>
            <a:r>
              <a:rPr lang="pl-PL" dirty="0"/>
              <a:t>) =&gt; </a:t>
            </a:r>
            <a:r>
              <a:rPr lang="pl-PL" dirty="0" err="1"/>
              <a:t>println</a:t>
            </a:r>
            <a:r>
              <a:rPr lang="pl-PL" dirty="0"/>
              <a:t>(</a:t>
            </a:r>
            <a:r>
              <a:rPr lang="pl-PL" dirty="0" err="1"/>
              <a:t>s"Error</a:t>
            </a:r>
            <a:r>
              <a:rPr lang="pl-PL" dirty="0"/>
              <a:t>: ${</a:t>
            </a:r>
            <a:r>
              <a:rPr lang="pl-PL" dirty="0" err="1"/>
              <a:t>err.getMessage</a:t>
            </a:r>
            <a:r>
              <a:rPr lang="pl-PL" dirty="0"/>
              <a:t>}")</a:t>
            </a:r>
          </a:p>
          <a:p>
            <a:pPr marL="0" indent="0">
              <a:buNone/>
            </a:pPr>
            <a:r>
              <a:rPr lang="pl-P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8355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C493B-BC86-0628-0DE0-80E22F9E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4402-4523-C9B6-BBE2-416573D7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Porównanie</a:t>
            </a:r>
            <a:r>
              <a:rPr dirty="0"/>
              <a:t> z </a:t>
            </a:r>
            <a:r>
              <a:rPr dirty="0" err="1"/>
              <a:t>innymi</a:t>
            </a:r>
            <a:r>
              <a:rPr dirty="0"/>
              <a:t> </a:t>
            </a:r>
            <a:r>
              <a:rPr dirty="0" err="1"/>
              <a:t>językami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65C2E-FD7B-EC92-04C8-6CA71A412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/>
            </a:pPr>
            <a:r>
              <a:rPr dirty="0"/>
              <a:t>Go</a:t>
            </a:r>
            <a:r>
              <a:rPr lang="pl-PL" dirty="0"/>
              <a:t> ➡️ Brak wyjątków, zwracanie (</a:t>
            </a:r>
            <a:r>
              <a:rPr lang="pl-PL" dirty="0" err="1"/>
              <a:t>value</a:t>
            </a:r>
            <a:r>
              <a:rPr lang="pl-PL" dirty="0"/>
              <a:t>, error) – jawne i proste.</a:t>
            </a:r>
          </a:p>
          <a:p>
            <a:pPr marL="0" indent="0">
              <a:buNone/>
              <a:defRPr sz="2000"/>
            </a:pPr>
            <a:r>
              <a:rPr lang="pl-PL" dirty="0" err="1"/>
              <a:t>func</a:t>
            </a:r>
            <a:r>
              <a:rPr lang="pl-PL" dirty="0"/>
              <a:t> </a:t>
            </a:r>
            <a:r>
              <a:rPr lang="pl-PL" dirty="0" err="1"/>
              <a:t>divide</a:t>
            </a:r>
            <a:r>
              <a:rPr lang="pl-PL" dirty="0"/>
              <a:t>(a, b </a:t>
            </a:r>
            <a:r>
              <a:rPr lang="pl-PL" dirty="0" err="1"/>
              <a:t>int</a:t>
            </a:r>
            <a:r>
              <a:rPr lang="pl-PL" dirty="0"/>
              <a:t>) (</a:t>
            </a:r>
            <a:r>
              <a:rPr lang="pl-PL" dirty="0" err="1"/>
              <a:t>int</a:t>
            </a:r>
            <a:r>
              <a:rPr lang="pl-PL" dirty="0"/>
              <a:t>, error) {</a:t>
            </a:r>
          </a:p>
          <a:p>
            <a:pPr marL="0" indent="0">
              <a:buNone/>
              <a:defRPr sz="2000"/>
            </a:pPr>
            <a:r>
              <a:rPr lang="pl-PL" dirty="0"/>
              <a:t>    </a:t>
            </a:r>
            <a:r>
              <a:rPr lang="pl-PL" dirty="0" err="1"/>
              <a:t>if</a:t>
            </a:r>
            <a:r>
              <a:rPr lang="pl-PL" dirty="0"/>
              <a:t> b == 0 {</a:t>
            </a:r>
          </a:p>
          <a:p>
            <a:pPr marL="0" indent="0">
              <a:buNone/>
              <a:defRPr sz="2000"/>
            </a:pPr>
            <a:r>
              <a:rPr lang="pl-PL" dirty="0"/>
              <a:t>        return 0, </a:t>
            </a:r>
            <a:r>
              <a:rPr lang="pl-PL" dirty="0" err="1"/>
              <a:t>fmt.Errorf</a:t>
            </a:r>
            <a:r>
              <a:rPr lang="pl-PL" dirty="0"/>
              <a:t>("</a:t>
            </a:r>
            <a:r>
              <a:rPr lang="pl-PL" dirty="0" err="1"/>
              <a:t>division</a:t>
            </a:r>
            <a:r>
              <a:rPr lang="pl-PL" dirty="0"/>
              <a:t> by zero")</a:t>
            </a:r>
          </a:p>
          <a:p>
            <a:pPr marL="0" indent="0">
              <a:buNone/>
              <a:defRPr sz="2000"/>
            </a:pPr>
            <a:r>
              <a:rPr lang="pl-PL" dirty="0"/>
              <a:t>    }</a:t>
            </a:r>
          </a:p>
          <a:p>
            <a:pPr marL="0" indent="0">
              <a:buNone/>
              <a:defRPr sz="2000"/>
            </a:pPr>
            <a:r>
              <a:rPr lang="pl-PL" dirty="0"/>
              <a:t>    return a / b, nil</a:t>
            </a:r>
          </a:p>
          <a:p>
            <a:pPr marL="0" indent="0">
              <a:buNone/>
              <a:defRPr sz="2000"/>
            </a:pPr>
            <a:r>
              <a:rPr lang="pl-PL" dirty="0"/>
              <a:t>}</a:t>
            </a:r>
          </a:p>
          <a:p>
            <a:pPr marL="0" indent="0">
              <a:buNone/>
              <a:defRPr sz="2000"/>
            </a:pPr>
            <a:endParaRPr lang="pl-PL" dirty="0"/>
          </a:p>
          <a:p>
            <a:pPr marL="0" indent="0">
              <a:buNone/>
              <a:defRPr sz="2000"/>
            </a:pPr>
            <a:r>
              <a:rPr lang="pl-PL" dirty="0" err="1"/>
              <a:t>result</a:t>
            </a:r>
            <a:r>
              <a:rPr lang="pl-PL" dirty="0"/>
              <a:t>, </a:t>
            </a:r>
            <a:r>
              <a:rPr lang="pl-PL" dirty="0" err="1"/>
              <a:t>err</a:t>
            </a:r>
            <a:r>
              <a:rPr lang="pl-PL" dirty="0"/>
              <a:t> := </a:t>
            </a:r>
            <a:r>
              <a:rPr lang="pl-PL" dirty="0" err="1"/>
              <a:t>divide</a:t>
            </a:r>
            <a:r>
              <a:rPr lang="pl-PL" dirty="0"/>
              <a:t>(10, 0)</a:t>
            </a:r>
          </a:p>
          <a:p>
            <a:pPr marL="0" indent="0">
              <a:buNone/>
              <a:defRPr sz="2000"/>
            </a:pPr>
            <a:r>
              <a:rPr lang="pl-PL" dirty="0" err="1"/>
              <a:t>if</a:t>
            </a:r>
            <a:r>
              <a:rPr lang="pl-PL" dirty="0"/>
              <a:t> </a:t>
            </a:r>
            <a:r>
              <a:rPr lang="pl-PL" dirty="0" err="1"/>
              <a:t>err</a:t>
            </a:r>
            <a:r>
              <a:rPr lang="pl-PL" dirty="0"/>
              <a:t> != nil {</a:t>
            </a:r>
          </a:p>
          <a:p>
            <a:pPr marL="0" indent="0">
              <a:buNone/>
              <a:defRPr sz="2000"/>
            </a:pPr>
            <a:r>
              <a:rPr lang="pl-PL" dirty="0"/>
              <a:t>    </a:t>
            </a:r>
            <a:r>
              <a:rPr lang="pl-PL" dirty="0" err="1"/>
              <a:t>fmt.Println</a:t>
            </a:r>
            <a:r>
              <a:rPr lang="pl-PL" dirty="0"/>
              <a:t>("Error:", </a:t>
            </a:r>
            <a:r>
              <a:rPr lang="pl-PL" dirty="0" err="1"/>
              <a:t>err</a:t>
            </a:r>
            <a:r>
              <a:rPr lang="pl-PL" dirty="0"/>
              <a:t>)</a:t>
            </a:r>
          </a:p>
          <a:p>
            <a:pPr marL="0" indent="0">
              <a:buNone/>
              <a:defRPr sz="2000"/>
            </a:pPr>
            <a:r>
              <a:rPr lang="pl-P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172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6E524-3AED-B784-EBEE-5DF75F7A9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6C6E-7156-8BFD-A4D8-2422ADE9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Porównanie z innymi językami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3C093-E8E3-F213-D033-C983C8598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sz="2000"/>
            </a:pPr>
            <a:r>
              <a:rPr dirty="0"/>
              <a:t>Rust</a:t>
            </a:r>
            <a:r>
              <a:rPr lang="pl-PL" dirty="0"/>
              <a:t> ➡️ </a:t>
            </a:r>
            <a:r>
              <a:rPr lang="pl-PL" dirty="0" err="1"/>
              <a:t>Result</a:t>
            </a:r>
            <a:r>
              <a:rPr lang="pl-PL" dirty="0"/>
              <a:t>&lt;T, E&gt;, wymusza jawne obsłużenie błędów.</a:t>
            </a:r>
          </a:p>
          <a:p>
            <a:pPr marL="0" indent="0">
              <a:buNone/>
            </a:pPr>
            <a:r>
              <a:rPr lang="pl-PL" dirty="0" err="1"/>
              <a:t>fn</a:t>
            </a:r>
            <a:r>
              <a:rPr lang="pl-PL" dirty="0"/>
              <a:t> </a:t>
            </a:r>
            <a:r>
              <a:rPr lang="pl-PL" dirty="0" err="1"/>
              <a:t>divide</a:t>
            </a:r>
            <a:r>
              <a:rPr lang="pl-PL" dirty="0"/>
              <a:t>(a: i32, b: i32) -&gt; </a:t>
            </a:r>
            <a:r>
              <a:rPr lang="pl-PL" dirty="0" err="1"/>
              <a:t>Result</a:t>
            </a:r>
            <a:r>
              <a:rPr lang="pl-PL" dirty="0"/>
              <a:t>&lt;i32, String&gt; {</a:t>
            </a:r>
          </a:p>
          <a:p>
            <a:pPr marL="0" indent="0">
              <a:buNone/>
            </a:pPr>
            <a:r>
              <a:rPr lang="pl-PL" dirty="0"/>
              <a:t>    </a:t>
            </a:r>
            <a:r>
              <a:rPr lang="pl-PL" dirty="0" err="1"/>
              <a:t>if</a:t>
            </a:r>
            <a:r>
              <a:rPr lang="pl-PL" dirty="0"/>
              <a:t> b == 0 {</a:t>
            </a:r>
          </a:p>
          <a:p>
            <a:pPr marL="0" indent="0">
              <a:buNone/>
            </a:pPr>
            <a:r>
              <a:rPr lang="pl-PL" dirty="0"/>
              <a:t>        </a:t>
            </a:r>
            <a:r>
              <a:rPr lang="pl-PL" dirty="0" err="1"/>
              <a:t>Err</a:t>
            </a:r>
            <a:r>
              <a:rPr lang="pl-PL" dirty="0"/>
              <a:t>("</a:t>
            </a:r>
            <a:r>
              <a:rPr lang="pl-PL" dirty="0" err="1"/>
              <a:t>division</a:t>
            </a:r>
            <a:r>
              <a:rPr lang="pl-PL" dirty="0"/>
              <a:t> by zero".</a:t>
            </a:r>
            <a:r>
              <a:rPr lang="pl-PL" dirty="0" err="1"/>
              <a:t>to_string</a:t>
            </a:r>
            <a:r>
              <a:rPr lang="pl-PL" dirty="0"/>
              <a:t>())</a:t>
            </a:r>
          </a:p>
          <a:p>
            <a:pPr marL="0" indent="0">
              <a:buNone/>
            </a:pPr>
            <a:r>
              <a:rPr lang="pl-PL" dirty="0"/>
              <a:t>    } </a:t>
            </a:r>
            <a:r>
              <a:rPr lang="pl-PL" dirty="0" err="1"/>
              <a:t>else</a:t>
            </a:r>
            <a:r>
              <a:rPr lang="pl-PL" dirty="0"/>
              <a:t> {</a:t>
            </a:r>
          </a:p>
          <a:p>
            <a:pPr marL="0" indent="0">
              <a:buNone/>
            </a:pPr>
            <a:r>
              <a:rPr lang="pl-PL" dirty="0"/>
              <a:t>        Ok(a / b)</a:t>
            </a:r>
          </a:p>
          <a:p>
            <a:pPr marL="0" indent="0">
              <a:buNone/>
            </a:pPr>
            <a:r>
              <a:rPr lang="pl-PL" dirty="0"/>
              <a:t>    }</a:t>
            </a:r>
          </a:p>
          <a:p>
            <a:pPr marL="0" indent="0">
              <a:buNone/>
            </a:pPr>
            <a:r>
              <a:rPr lang="pl-PL" dirty="0"/>
              <a:t>}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dirty="0" err="1"/>
              <a:t>fn</a:t>
            </a:r>
            <a:r>
              <a:rPr lang="pl-PL" dirty="0"/>
              <a:t> </a:t>
            </a:r>
            <a:r>
              <a:rPr lang="pl-PL" dirty="0" err="1"/>
              <a:t>main</a:t>
            </a:r>
            <a:r>
              <a:rPr lang="pl-PL" dirty="0"/>
              <a:t>() {</a:t>
            </a:r>
          </a:p>
          <a:p>
            <a:pPr marL="0" indent="0">
              <a:buNone/>
            </a:pPr>
            <a:r>
              <a:rPr lang="pl-PL" dirty="0"/>
              <a:t>    </a:t>
            </a:r>
            <a:r>
              <a:rPr lang="pl-PL" dirty="0" err="1"/>
              <a:t>match</a:t>
            </a:r>
            <a:r>
              <a:rPr lang="pl-PL" dirty="0"/>
              <a:t> </a:t>
            </a:r>
            <a:r>
              <a:rPr lang="pl-PL" dirty="0" err="1"/>
              <a:t>divide</a:t>
            </a:r>
            <a:r>
              <a:rPr lang="pl-PL" dirty="0"/>
              <a:t>(10, 0) {</a:t>
            </a:r>
          </a:p>
          <a:p>
            <a:pPr marL="0" indent="0">
              <a:buNone/>
            </a:pPr>
            <a:r>
              <a:rPr lang="pl-PL" dirty="0"/>
              <a:t>        Ok(res) =&gt; </a:t>
            </a:r>
            <a:r>
              <a:rPr lang="pl-PL" dirty="0" err="1"/>
              <a:t>println</a:t>
            </a:r>
            <a:r>
              <a:rPr lang="pl-PL" dirty="0"/>
              <a:t>!("</a:t>
            </a:r>
            <a:r>
              <a:rPr lang="pl-PL" dirty="0" err="1"/>
              <a:t>Result</a:t>
            </a:r>
            <a:r>
              <a:rPr lang="pl-PL" dirty="0"/>
              <a:t>: {}", res),</a:t>
            </a:r>
          </a:p>
          <a:p>
            <a:pPr marL="0" indent="0">
              <a:buNone/>
            </a:pPr>
            <a:r>
              <a:rPr lang="pl-PL" dirty="0"/>
              <a:t>        </a:t>
            </a:r>
            <a:r>
              <a:rPr lang="pl-PL" dirty="0" err="1"/>
              <a:t>Err</a:t>
            </a:r>
            <a:r>
              <a:rPr lang="pl-PL" dirty="0"/>
              <a:t>(e) =&gt; </a:t>
            </a:r>
            <a:r>
              <a:rPr lang="pl-PL" dirty="0" err="1"/>
              <a:t>println</a:t>
            </a:r>
            <a:r>
              <a:rPr lang="pl-PL" dirty="0"/>
              <a:t>!("Error: {}", e),</a:t>
            </a:r>
          </a:p>
          <a:p>
            <a:pPr marL="0" indent="0">
              <a:buNone/>
            </a:pPr>
            <a:r>
              <a:rPr lang="pl-PL" dirty="0"/>
              <a:t>    }</a:t>
            </a:r>
          </a:p>
          <a:p>
            <a:pPr marL="0" indent="0">
              <a:buNone/>
            </a:pPr>
            <a:r>
              <a:rPr lang="pl-PL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4465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0047A-6714-9835-E34F-01470907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D27B-59C2-39A6-D7F4-AAC7187C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Porównanie z innymi językami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DFD3A-4571-457C-F4CC-1B3033833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pl-PL" dirty="0"/>
              <a:t>Erlang ➡️ </a:t>
            </a:r>
            <a:r>
              <a:rPr lang="pl-PL" dirty="0" err="1"/>
              <a:t>Krotki</a:t>
            </a:r>
            <a:r>
              <a:rPr lang="pl-PL" dirty="0"/>
              <a:t> {ok, Val} | {error, </a:t>
            </a:r>
            <a:r>
              <a:rPr lang="pl-PL" dirty="0" err="1"/>
              <a:t>Reason</a:t>
            </a:r>
            <a:r>
              <a:rPr lang="pl-PL" dirty="0"/>
              <a:t>}, brak klasycznych wyjątków.</a:t>
            </a:r>
          </a:p>
          <a:p>
            <a:pPr marL="0" indent="0">
              <a:buNone/>
            </a:pPr>
            <a:r>
              <a:rPr lang="pl-PL" dirty="0" err="1"/>
              <a:t>divide</a:t>
            </a:r>
            <a:r>
              <a:rPr lang="pl-PL" dirty="0"/>
              <a:t>(A, 0) -&gt; {error, </a:t>
            </a:r>
            <a:r>
              <a:rPr lang="pl-PL" dirty="0" err="1"/>
              <a:t>division_by_zero</a:t>
            </a:r>
            <a:r>
              <a:rPr lang="pl-PL" dirty="0"/>
              <a:t>};</a:t>
            </a:r>
          </a:p>
          <a:p>
            <a:pPr marL="0" indent="0">
              <a:buNone/>
            </a:pPr>
            <a:r>
              <a:rPr lang="pl-PL" dirty="0" err="1"/>
              <a:t>divide</a:t>
            </a:r>
            <a:r>
              <a:rPr lang="pl-PL" dirty="0"/>
              <a:t>(A, B) -&gt; {ok, A div B}.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dirty="0" err="1"/>
              <a:t>case</a:t>
            </a:r>
            <a:r>
              <a:rPr lang="pl-PL" dirty="0"/>
              <a:t> </a:t>
            </a:r>
            <a:r>
              <a:rPr lang="pl-PL" dirty="0" err="1"/>
              <a:t>divide</a:t>
            </a:r>
            <a:r>
              <a:rPr lang="pl-PL" dirty="0"/>
              <a:t>(10, 0) of</a:t>
            </a:r>
          </a:p>
          <a:p>
            <a:pPr marL="0" indent="0">
              <a:buNone/>
            </a:pPr>
            <a:r>
              <a:rPr lang="pl-PL" dirty="0"/>
              <a:t>    {ok, </a:t>
            </a:r>
            <a:r>
              <a:rPr lang="pl-PL" dirty="0" err="1"/>
              <a:t>Result</a:t>
            </a:r>
            <a:r>
              <a:rPr lang="pl-PL" dirty="0"/>
              <a:t>} -&gt; </a:t>
            </a:r>
            <a:r>
              <a:rPr lang="pl-PL" dirty="0" err="1"/>
              <a:t>io:format</a:t>
            </a:r>
            <a:r>
              <a:rPr lang="pl-PL" dirty="0"/>
              <a:t>("</a:t>
            </a:r>
            <a:r>
              <a:rPr lang="pl-PL" dirty="0" err="1"/>
              <a:t>Result</a:t>
            </a:r>
            <a:r>
              <a:rPr lang="pl-PL" dirty="0"/>
              <a:t>: ~</a:t>
            </a:r>
            <a:r>
              <a:rPr lang="pl-PL" dirty="0" err="1"/>
              <a:t>p~n</a:t>
            </a:r>
            <a:r>
              <a:rPr lang="pl-PL" dirty="0"/>
              <a:t>", [</a:t>
            </a:r>
            <a:r>
              <a:rPr lang="pl-PL" dirty="0" err="1"/>
              <a:t>Result</a:t>
            </a:r>
            <a:r>
              <a:rPr lang="pl-PL" dirty="0"/>
              <a:t>]);</a:t>
            </a:r>
          </a:p>
          <a:p>
            <a:pPr marL="0" indent="0">
              <a:buNone/>
            </a:pPr>
            <a:r>
              <a:rPr lang="pl-PL" dirty="0"/>
              <a:t>    {error, </a:t>
            </a:r>
            <a:r>
              <a:rPr lang="pl-PL" dirty="0" err="1"/>
              <a:t>Reason</a:t>
            </a:r>
            <a:r>
              <a:rPr lang="pl-PL" dirty="0"/>
              <a:t>} -&gt; </a:t>
            </a:r>
            <a:r>
              <a:rPr lang="pl-PL" dirty="0" err="1"/>
              <a:t>io:format</a:t>
            </a:r>
            <a:r>
              <a:rPr lang="pl-PL" dirty="0"/>
              <a:t>("Error: ~</a:t>
            </a:r>
            <a:r>
              <a:rPr lang="pl-PL" dirty="0" err="1"/>
              <a:t>p~n</a:t>
            </a:r>
            <a:r>
              <a:rPr lang="pl-PL" dirty="0"/>
              <a:t>", [</a:t>
            </a:r>
            <a:r>
              <a:rPr lang="pl-PL" dirty="0" err="1"/>
              <a:t>Reason</a:t>
            </a:r>
            <a:r>
              <a:rPr lang="pl-PL" dirty="0"/>
              <a:t>])</a:t>
            </a:r>
          </a:p>
          <a:p>
            <a:pPr marL="0" indent="0">
              <a:buNone/>
            </a:pPr>
            <a:r>
              <a:rPr lang="pl-PL" dirty="0"/>
              <a:t>end.</a:t>
            </a:r>
          </a:p>
        </p:txBody>
      </p:sp>
    </p:spTree>
    <p:extLst>
      <p:ext uri="{BB962C8B-B14F-4D97-AF65-F5344CB8AC3E}">
        <p14:creationId xmlns:p14="http://schemas.microsoft.com/office/powerpoint/2010/main" val="2859846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8D225A-12CE-7471-D01A-2726DE10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4FAA-D246-093E-370F-BFFFDA0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Porównanie z innymi językami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54573-4FDE-EF71-AE8E-1D26CDA93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pl-PL" dirty="0" err="1"/>
              <a:t>Haskell</a:t>
            </a:r>
            <a:r>
              <a:rPr lang="pl-PL" dirty="0"/>
              <a:t> - </a:t>
            </a:r>
            <a:r>
              <a:rPr lang="pl-PL" dirty="0" err="1"/>
              <a:t>Either</a:t>
            </a:r>
            <a:r>
              <a:rPr lang="pl-PL" dirty="0"/>
              <a:t> e a, czysto funkcyjne podejście.</a:t>
            </a:r>
          </a:p>
          <a:p>
            <a:pPr marL="0" indent="0">
              <a:buNone/>
            </a:pPr>
            <a:r>
              <a:rPr lang="en-US" dirty="0"/>
              <a:t>divide :: Int -&gt; Int -&gt; Either String Int</a:t>
            </a:r>
          </a:p>
          <a:p>
            <a:pPr marL="0" indent="0">
              <a:buNone/>
            </a:pPr>
            <a:r>
              <a:rPr lang="en-US" dirty="0"/>
              <a:t>divide _ 0 = Left "division by zero"</a:t>
            </a:r>
          </a:p>
          <a:p>
            <a:pPr marL="0" indent="0">
              <a:buNone/>
            </a:pPr>
            <a:r>
              <a:rPr lang="en-US" dirty="0"/>
              <a:t>divide a b = Right (a `div` b)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main = case divide 10 0 of</a:t>
            </a:r>
          </a:p>
          <a:p>
            <a:pPr marL="0" indent="0">
              <a:buNone/>
            </a:pPr>
            <a:r>
              <a:rPr lang="en-US" dirty="0"/>
              <a:t>    Right result -&gt; print result</a:t>
            </a:r>
          </a:p>
          <a:p>
            <a:pPr marL="0" indent="0">
              <a:buNone/>
            </a:pPr>
            <a:r>
              <a:rPr lang="en-US" dirty="0"/>
              <a:t>    Left err -&gt; </a:t>
            </a:r>
            <a:r>
              <a:rPr lang="en-US" dirty="0" err="1"/>
              <a:t>putStrLn</a:t>
            </a:r>
            <a:r>
              <a:rPr lang="en-US" dirty="0"/>
              <a:t> ("Error: " ++ err)</a:t>
            </a:r>
          </a:p>
        </p:txBody>
      </p:sp>
    </p:spTree>
    <p:extLst>
      <p:ext uri="{BB962C8B-B14F-4D97-AF65-F5344CB8AC3E}">
        <p14:creationId xmlns:p14="http://schemas.microsoft.com/office/powerpoint/2010/main" val="508004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B2F24E-71A6-55BB-764E-5CD753AFB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Najbardziej eleganckie rozwiązanie?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999961D-CDE3-3FC4-5F42-4BDB1E7FF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Rust</a:t>
            </a:r>
            <a:r>
              <a:rPr lang="pl-PL" dirty="0"/>
              <a:t> / </a:t>
            </a:r>
            <a:r>
              <a:rPr lang="pl-PL" dirty="0" err="1"/>
              <a:t>Haskell</a:t>
            </a:r>
            <a:r>
              <a:rPr lang="pl-PL" dirty="0"/>
              <a:t> / Erlang – bo wymuszają jawne błędy w typach (</a:t>
            </a:r>
            <a:r>
              <a:rPr lang="pl-PL" dirty="0" err="1"/>
              <a:t>Result</a:t>
            </a:r>
            <a:r>
              <a:rPr lang="pl-PL" dirty="0"/>
              <a:t>, </a:t>
            </a:r>
            <a:r>
              <a:rPr lang="pl-PL" dirty="0" err="1"/>
              <a:t>Either</a:t>
            </a:r>
            <a:r>
              <a:rPr lang="pl-PL" dirty="0"/>
              <a:t>, </a:t>
            </a:r>
            <a:r>
              <a:rPr lang="pl-PL" dirty="0" err="1"/>
              <a:t>krotki</a:t>
            </a:r>
            <a:r>
              <a:rPr lang="pl-PL" dirty="0"/>
              <a:t>).</a:t>
            </a:r>
          </a:p>
          <a:p>
            <a:r>
              <a:rPr lang="pl-PL" dirty="0"/>
              <a:t>Go jest prosty, ale powtarzalny („error </a:t>
            </a:r>
            <a:r>
              <a:rPr lang="pl-PL" dirty="0" err="1"/>
              <a:t>handling</a:t>
            </a:r>
            <a:r>
              <a:rPr lang="pl-PL" dirty="0"/>
              <a:t> </a:t>
            </a:r>
            <a:r>
              <a:rPr lang="pl-PL" dirty="0" err="1"/>
              <a:t>boilerplate</a:t>
            </a:r>
            <a:r>
              <a:rPr lang="pl-PL" dirty="0"/>
              <a:t>”).</a:t>
            </a:r>
          </a:p>
          <a:p>
            <a:r>
              <a:rPr lang="pl-PL" dirty="0"/>
              <a:t>Java / C# mają ukryte wyjątki 👉mniej przewidywalne.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06592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9CD8D8-4B37-58BD-F2D3-804EC87C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 to jest monada?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E3B2F86-53F8-9F1F-CED7-9E8B342EF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Monada to wzorzec abstrakcyjny w programowaniu funkcyjnym.</a:t>
            </a:r>
          </a:p>
          <a:p>
            <a:r>
              <a:rPr lang="pl-PL" dirty="0"/>
              <a:t>Definiuje sposób łączenia obliczeń sekwencyjnie, z zachowaniem kontekstu (np. błędu, listy, IO).</a:t>
            </a:r>
          </a:p>
          <a:p>
            <a:r>
              <a:rPr lang="pl-PL" dirty="0"/>
              <a:t>Składa się z:</a:t>
            </a:r>
          </a:p>
          <a:p>
            <a:pPr lvl="1"/>
            <a:r>
              <a:rPr lang="pl-PL" dirty="0"/>
              <a:t>unit / return – pakuje wartość w monadę.</a:t>
            </a:r>
          </a:p>
          <a:p>
            <a:pPr lvl="1"/>
            <a:r>
              <a:rPr lang="pl-PL" dirty="0"/>
              <a:t>bind (&gt;&gt;=) – łączy funkcje zwracające monady w łańcuch.</a:t>
            </a:r>
          </a:p>
          <a:p>
            <a:r>
              <a:rPr lang="pl-PL" dirty="0"/>
              <a:t>Przykłady:</a:t>
            </a:r>
          </a:p>
          <a:p>
            <a:pPr lvl="1"/>
            <a:r>
              <a:rPr lang="pl-PL" dirty="0" err="1"/>
              <a:t>Maybe</a:t>
            </a:r>
            <a:r>
              <a:rPr lang="pl-PL" dirty="0"/>
              <a:t> – reprezentuje wartość lub brak.</a:t>
            </a:r>
          </a:p>
          <a:p>
            <a:pPr lvl="1"/>
            <a:r>
              <a:rPr lang="pl-PL" dirty="0" err="1"/>
              <a:t>Result</a:t>
            </a:r>
            <a:r>
              <a:rPr lang="pl-PL" dirty="0"/>
              <a:t> / </a:t>
            </a:r>
            <a:r>
              <a:rPr lang="pl-PL" dirty="0" err="1"/>
              <a:t>Either</a:t>
            </a:r>
            <a:r>
              <a:rPr lang="pl-PL" dirty="0"/>
              <a:t> – reprezentuje sukces lub błąd.</a:t>
            </a:r>
          </a:p>
          <a:p>
            <a:pPr lvl="1"/>
            <a:r>
              <a:rPr lang="pl-PL" dirty="0"/>
              <a:t>IO – obliczenia z efektami ubocznymi.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22528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Rail Oriented Programming (ROP)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/>
            </a:pPr>
            <a:r>
              <a:rPr dirty="0" err="1"/>
              <a:t>Metafora</a:t>
            </a:r>
            <a:r>
              <a:rPr dirty="0"/>
              <a:t> </a:t>
            </a:r>
            <a:r>
              <a:rPr dirty="0" err="1"/>
              <a:t>torów</a:t>
            </a:r>
            <a:r>
              <a:rPr dirty="0"/>
              <a:t> </a:t>
            </a:r>
            <a:r>
              <a:rPr dirty="0" err="1"/>
              <a:t>kolejowych</a:t>
            </a:r>
            <a:endParaRPr lang="pl-PL" dirty="0"/>
          </a:p>
          <a:p>
            <a:pPr>
              <a:defRPr sz="2000"/>
            </a:pPr>
            <a:r>
              <a:rPr lang="pl-PL" dirty="0"/>
              <a:t>Dwa tory – jeden dla poprawnych wartości, drugi dla błędów</a:t>
            </a:r>
          </a:p>
          <a:p>
            <a:pPr>
              <a:defRPr sz="2000"/>
            </a:pPr>
            <a:r>
              <a:rPr lang="pl-PL" dirty="0"/>
              <a:t>Funkcje transformujące – każda funkcja przyjmuje wartość z toru sukcesu i zwraca wynik na tor sukcesu lub przełącza na tor błędu.</a:t>
            </a:r>
          </a:p>
          <a:p>
            <a:pPr>
              <a:defRPr sz="2000"/>
            </a:pPr>
            <a:r>
              <a:rPr lang="pl-PL" dirty="0"/>
              <a:t>Łańcuchy operacji – funkcje można łączyć (</a:t>
            </a:r>
            <a:r>
              <a:rPr lang="pl-PL" dirty="0" err="1"/>
              <a:t>pipe</a:t>
            </a:r>
            <a:r>
              <a:rPr lang="pl-PL" dirty="0"/>
              <a:t>/</a:t>
            </a:r>
            <a:r>
              <a:rPr lang="pl-PL" dirty="0" err="1"/>
              <a:t>chain</a:t>
            </a:r>
            <a:r>
              <a:rPr lang="pl-PL" dirty="0"/>
              <a:t>), a przepływ sam wybiera odpowiedni tor.</a:t>
            </a:r>
          </a:p>
          <a:p>
            <a:pPr>
              <a:defRPr sz="2000"/>
            </a:pPr>
            <a:r>
              <a:rPr lang="pl-PL" dirty="0"/>
              <a:t>Brak wyjątków runtime – zamiast </a:t>
            </a:r>
            <a:r>
              <a:rPr lang="pl-PL" dirty="0" err="1"/>
              <a:t>try</a:t>
            </a:r>
            <a:r>
              <a:rPr lang="pl-PL" dirty="0"/>
              <a:t>/</a:t>
            </a:r>
            <a:r>
              <a:rPr lang="pl-PL" dirty="0" err="1"/>
              <a:t>except</a:t>
            </a:r>
            <a:r>
              <a:rPr lang="pl-PL" dirty="0"/>
              <a:t>, błędy są jawne i obsługiwane w przepływie danych.</a:t>
            </a:r>
          </a:p>
          <a:p>
            <a:pPr>
              <a:defRPr sz="2000"/>
            </a:pPr>
            <a:r>
              <a:rPr lang="pl-PL" dirty="0"/>
              <a:t>Kompozycja – logika biznesowa budowana jest z małych funkcji, które można łatwo komponować.</a:t>
            </a:r>
          </a:p>
          <a:p>
            <a:pPr>
              <a:defRPr sz="2000"/>
            </a:pPr>
            <a:r>
              <a:rPr lang="pl-PL" dirty="0"/>
              <a:t>Deklaratywność – opisujemy co się dzieje, a nie jak łapać wyjątki.</a:t>
            </a:r>
          </a:p>
          <a:p>
            <a:pPr>
              <a:defRPr sz="2000"/>
            </a:pPr>
            <a:r>
              <a:rPr lang="pl-PL" dirty="0"/>
              <a:t>Przewidywalność – błędy nie „wyskakują” znikąd, są elementem kontraktu funkcji.</a:t>
            </a:r>
          </a:p>
          <a:p>
            <a:pPr>
              <a:defRPr sz="2000"/>
            </a:pPr>
            <a:r>
              <a:rPr lang="pl-PL" dirty="0"/>
              <a:t>Inspiracja funkcyjna – wzorzec pochodzi z F#, </a:t>
            </a:r>
            <a:r>
              <a:rPr lang="pl-PL" dirty="0" err="1"/>
              <a:t>Haskella</a:t>
            </a:r>
            <a:r>
              <a:rPr lang="pl-PL" dirty="0"/>
              <a:t> i monad.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AFA0BC-6E20-8EBB-E9C4-1BD377439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Zalety ROP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1C497A7-FE1A-45A5-E164-BD2FE10C1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Łatwiejsza kompozycja funkcji.</a:t>
            </a:r>
          </a:p>
          <a:p>
            <a:r>
              <a:rPr lang="pl-PL" dirty="0"/>
              <a:t>Błędy obsługiwane jawnie, brak ukrytych wyjątków.</a:t>
            </a:r>
          </a:p>
          <a:p>
            <a:r>
              <a:rPr lang="pl-PL" dirty="0"/>
              <a:t>Kod bardziej przewidywalny i testowalny.</a:t>
            </a:r>
          </a:p>
          <a:p>
            <a:r>
              <a:rPr lang="pl-PL" dirty="0"/>
              <a:t>Umożliwia pisanie bardziej funkcyjnego </a:t>
            </a:r>
            <a:r>
              <a:rPr lang="pl-PL" dirty="0" err="1"/>
              <a:t>Pythona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4054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48ECB3-F0AE-9D71-1DFE-9F75CA6F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Wady RO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C3B1F5-8E91-89BA-7745-72CE7F450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Większa „ceremonia” w prostych przypadkach.</a:t>
            </a:r>
          </a:p>
          <a:p>
            <a:r>
              <a:rPr lang="pl-PL" dirty="0"/>
              <a:t>Wymaga zmiany sposobu myślenia (nieintuicyjne dla programistów OOP).</a:t>
            </a:r>
          </a:p>
          <a:p>
            <a:r>
              <a:rPr lang="pl-PL" dirty="0"/>
              <a:t>Trudniejsze debugowanie, jeśli ktoś nie zna koncepcji.</a:t>
            </a:r>
          </a:p>
          <a:p>
            <a:r>
              <a:rPr lang="pl-PL" dirty="0" err="1"/>
              <a:t>Python</a:t>
            </a:r>
            <a:r>
              <a:rPr lang="pl-PL" dirty="0"/>
              <a:t> nie wspiera tego natywnie, potrzebne biblioteki (np. </a:t>
            </a:r>
            <a:r>
              <a:rPr lang="pl-PL" dirty="0" err="1"/>
              <a:t>returns</a:t>
            </a:r>
            <a:r>
              <a:rPr lang="pl-PL" dirty="0"/>
              <a:t>).</a:t>
            </a:r>
          </a:p>
          <a:p>
            <a:r>
              <a:rPr lang="pl-PL" dirty="0"/>
              <a:t>Opakowanie kosztuje 😉</a:t>
            </a:r>
          </a:p>
        </p:txBody>
      </p:sp>
    </p:spTree>
    <p:extLst>
      <p:ext uri="{BB962C8B-B14F-4D97-AF65-F5344CB8AC3E}">
        <p14:creationId xmlns:p14="http://schemas.microsoft.com/office/powerpoint/2010/main" val="1533517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Biblioteka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Typy: Result, Maybe, IO, FutureResult</a:t>
            </a:r>
          </a:p>
          <a:p>
            <a:pPr>
              <a:defRPr sz="2000"/>
            </a:pPr>
            <a:r>
              <a:t>Funkcje: map, bind, alt, unwrap_or</a:t>
            </a:r>
          </a:p>
          <a:p>
            <a:pPr>
              <a:defRPr sz="2000"/>
            </a:pPr>
            <a:r>
              <a:t>Integracja z mypy (typowanie)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Przykład synchroniczny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parse_age('21') → Success(21)</a:t>
            </a:r>
          </a:p>
          <a:p>
            <a:pPr>
              <a:defRPr sz="2000"/>
            </a:pPr>
            <a:r>
              <a:t>.bind(validate_age)</a:t>
            </a:r>
          </a:p>
          <a:p>
            <a:pPr>
              <a:defRPr sz="2000"/>
            </a:pPr>
            <a:r>
              <a:t>.map(lambda x: f'Welcome {x}')</a:t>
            </a:r>
          </a:p>
          <a:p>
            <a:pPr>
              <a:defRPr sz="2000"/>
            </a:pPr>
            <a:r>
              <a:t>→ Success('Welcome 21') lub Failure(...)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Przykład asynchroniczny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@future_safe async def </a:t>
            </a:r>
            <a:r>
              <a:rPr dirty="0" err="1"/>
              <a:t>fetch_data</a:t>
            </a:r>
            <a:r>
              <a:rPr dirty="0"/>
              <a:t>(url: str) -&gt; str</a:t>
            </a:r>
          </a:p>
          <a:p>
            <a:pPr>
              <a:defRPr sz="2000"/>
            </a:pPr>
            <a:r>
              <a:rPr dirty="0"/>
              <a:t>Result: Success(data) </a:t>
            </a:r>
            <a:r>
              <a:rPr dirty="0" err="1"/>
              <a:t>lub</a:t>
            </a:r>
            <a:r>
              <a:rPr dirty="0"/>
              <a:t> Failure(error)</a:t>
            </a:r>
          </a:p>
          <a:p>
            <a:pPr>
              <a:defRPr sz="2000"/>
            </a:pPr>
            <a:r>
              <a:rPr dirty="0" err="1"/>
              <a:t>Łączenie</a:t>
            </a:r>
            <a:r>
              <a:rPr dirty="0"/>
              <a:t> async/await z </a:t>
            </a:r>
            <a:r>
              <a:rPr dirty="0" err="1"/>
              <a:t>monadą</a:t>
            </a:r>
            <a:r>
              <a:rPr dirty="0"/>
              <a:t> Result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Podsumowanie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 err="1"/>
              <a:t>Wyjątki</a:t>
            </a:r>
            <a:r>
              <a:rPr dirty="0"/>
              <a:t> w </a:t>
            </a:r>
            <a:r>
              <a:rPr dirty="0" err="1"/>
              <a:t>Pythonie</a:t>
            </a:r>
            <a:r>
              <a:rPr dirty="0"/>
              <a:t> </a:t>
            </a:r>
            <a:r>
              <a:rPr dirty="0" err="1"/>
              <a:t>są</a:t>
            </a:r>
            <a:r>
              <a:rPr dirty="0"/>
              <a:t> </a:t>
            </a:r>
            <a:r>
              <a:rPr dirty="0" err="1"/>
              <a:t>elastyczne</a:t>
            </a:r>
            <a:r>
              <a:rPr dirty="0"/>
              <a:t>, ale </a:t>
            </a:r>
            <a:r>
              <a:rPr dirty="0" err="1"/>
              <a:t>mniej</a:t>
            </a:r>
            <a:r>
              <a:rPr dirty="0"/>
              <a:t> </a:t>
            </a:r>
            <a:r>
              <a:rPr dirty="0" err="1"/>
              <a:t>przewidywalne</a:t>
            </a:r>
            <a:endParaRPr dirty="0"/>
          </a:p>
          <a:p>
            <a:pPr>
              <a:defRPr sz="2000"/>
            </a:pPr>
            <a:r>
              <a:rPr dirty="0"/>
              <a:t>ROP = </a:t>
            </a:r>
            <a:r>
              <a:rPr dirty="0" err="1"/>
              <a:t>jawna</a:t>
            </a:r>
            <a:r>
              <a:rPr dirty="0"/>
              <a:t> </a:t>
            </a:r>
            <a:r>
              <a:rPr dirty="0" err="1"/>
              <a:t>obsługa</a:t>
            </a:r>
            <a:r>
              <a:rPr dirty="0"/>
              <a:t> </a:t>
            </a:r>
            <a:r>
              <a:rPr dirty="0" err="1"/>
              <a:t>błędów</a:t>
            </a:r>
            <a:r>
              <a:rPr dirty="0"/>
              <a:t> </a:t>
            </a:r>
            <a:r>
              <a:rPr dirty="0" err="1"/>
              <a:t>przez</a:t>
            </a:r>
            <a:r>
              <a:rPr dirty="0"/>
              <a:t> </a:t>
            </a:r>
            <a:r>
              <a:rPr dirty="0" err="1"/>
              <a:t>typy</a:t>
            </a:r>
            <a:r>
              <a:rPr dirty="0"/>
              <a:t> </a:t>
            </a:r>
            <a:r>
              <a:rPr dirty="0" err="1"/>
              <a:t>wynikowe</a:t>
            </a:r>
            <a:endParaRPr dirty="0"/>
          </a:p>
          <a:p>
            <a:pPr>
              <a:defRPr sz="2000"/>
            </a:pPr>
            <a:r>
              <a:rPr dirty="0" err="1"/>
              <a:t>Biblioteka</a:t>
            </a:r>
            <a:r>
              <a:rPr dirty="0"/>
              <a:t> returns </a:t>
            </a:r>
            <a:r>
              <a:rPr dirty="0" err="1"/>
              <a:t>implementuje</a:t>
            </a:r>
            <a:r>
              <a:rPr dirty="0"/>
              <a:t> </a:t>
            </a:r>
            <a:r>
              <a:rPr dirty="0" err="1"/>
              <a:t>monady</a:t>
            </a:r>
            <a:r>
              <a:rPr dirty="0"/>
              <a:t> </a:t>
            </a:r>
            <a:r>
              <a:rPr dirty="0" err="1"/>
              <a:t>funkcyjne</a:t>
            </a:r>
            <a:endParaRPr dirty="0"/>
          </a:p>
          <a:p>
            <a:pPr>
              <a:defRPr sz="2000"/>
            </a:pPr>
            <a:r>
              <a:rPr dirty="0" err="1"/>
              <a:t>Czytelny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skalowalny</a:t>
            </a:r>
            <a:r>
              <a:rPr dirty="0"/>
              <a:t> </a:t>
            </a:r>
            <a:r>
              <a:rPr dirty="0" err="1"/>
              <a:t>kod</a:t>
            </a:r>
            <a:r>
              <a:rPr dirty="0"/>
              <a:t> </a:t>
            </a:r>
            <a:r>
              <a:rPr dirty="0" err="1"/>
              <a:t>biznesowy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3000"/>
            <a:lum/>
          </a:blip>
          <a:srcRect/>
          <a:stretch>
            <a:fillRect l="-16000" t="-9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A8DFB3E6-7CFF-47F1-37CE-7D4BA75D64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l-PL" sz="6600" dirty="0"/>
              <a:t>Q&amp;A…</a:t>
            </a:r>
            <a:br>
              <a:rPr lang="pl-PL" sz="6600" dirty="0"/>
            </a:b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0853890-6B57-E326-DA01-8B3B01750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endParaRPr lang="pl-PL" sz="4800" dirty="0"/>
          </a:p>
        </p:txBody>
      </p:sp>
    </p:spTree>
    <p:extLst>
      <p:ext uri="{BB962C8B-B14F-4D97-AF65-F5344CB8AC3E}">
        <p14:creationId xmlns:p14="http://schemas.microsoft.com/office/powerpoint/2010/main" val="3069540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C36E-C8C9-572E-9CB5-8DDE3FFE4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A477409E-E13B-BCC3-3FEC-57CAD2DA74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l-PL" sz="6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Dziękuję za uwagę</a:t>
            </a:r>
            <a:r>
              <a:rPr lang="pl-PL" sz="6600" dirty="0"/>
              <a:t> 😁</a:t>
            </a:r>
            <a:endParaRPr lang="pl-PL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C9B8850-BA5E-3F94-8F72-25EEE6AC6D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endParaRPr lang="pl-PL" sz="4800" dirty="0"/>
          </a:p>
        </p:txBody>
      </p:sp>
    </p:spTree>
    <p:extLst>
      <p:ext uri="{BB962C8B-B14F-4D97-AF65-F5344CB8AC3E}">
        <p14:creationId xmlns:p14="http://schemas.microsoft.com/office/powerpoint/2010/main" val="29185715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ewniana czcionka">
  <a:themeElements>
    <a:clrScheme name="Drewniana czcionk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Drewniana czcionk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rewniana czcionk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TM03090434[[fn=Drewniana czcionka]]</Template>
  <TotalTime>186</TotalTime>
  <Words>1092</Words>
  <Application>Microsoft Office PowerPoint</Application>
  <PresentationFormat>Pokaz na ekranie (4:3)</PresentationFormat>
  <Paragraphs>144</Paragraphs>
  <Slides>21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6" baseType="lpstr">
      <vt:lpstr>Rockwell Condensed</vt:lpstr>
      <vt:lpstr>Segoe Pro</vt:lpstr>
      <vt:lpstr>Segoe UI Semibold</vt:lpstr>
      <vt:lpstr>Wingdings</vt:lpstr>
      <vt:lpstr>Drewniana czcionka</vt:lpstr>
      <vt:lpstr>Rail Oriented Programming</vt:lpstr>
      <vt:lpstr>Tematyka na dzisiaj</vt:lpstr>
      <vt:lpstr>Obsługa błędów w Pythonie</vt:lpstr>
      <vt:lpstr>Porównanie z innymi językami</vt:lpstr>
      <vt:lpstr>Porównanie z innymi językami</vt:lpstr>
      <vt:lpstr>Porównanie z innymi językami</vt:lpstr>
      <vt:lpstr>Porównanie z innymi językami</vt:lpstr>
      <vt:lpstr>Porównanie z innymi językami</vt:lpstr>
      <vt:lpstr>Porównanie z innymi językami</vt:lpstr>
      <vt:lpstr>Porównanie z innymi językami</vt:lpstr>
      <vt:lpstr>Najbardziej eleganckie rozwiązanie?</vt:lpstr>
      <vt:lpstr>Co to jest monada?</vt:lpstr>
      <vt:lpstr>Rail Oriented Programming (ROP)</vt:lpstr>
      <vt:lpstr>Zalety ROP</vt:lpstr>
      <vt:lpstr>Wady RO</vt:lpstr>
      <vt:lpstr>Biblioteka returns</vt:lpstr>
      <vt:lpstr>Przykład synchroniczny</vt:lpstr>
      <vt:lpstr>Przykład asynchroniczny</vt:lpstr>
      <vt:lpstr>Podsumowanie</vt:lpstr>
      <vt:lpstr>Q&amp;A… </vt:lpstr>
      <vt:lpstr>Dziękuję za uwagę 😁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Artur Lew</cp:lastModifiedBy>
  <cp:revision>20</cp:revision>
  <dcterms:created xsi:type="dcterms:W3CDTF">2013-01-27T09:14:16Z</dcterms:created>
  <dcterms:modified xsi:type="dcterms:W3CDTF">2025-08-27T23:28:01Z</dcterms:modified>
  <cp:category/>
</cp:coreProperties>
</file>