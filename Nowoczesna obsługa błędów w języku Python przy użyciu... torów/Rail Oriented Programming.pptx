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9" r:id="rId6"/>
    <p:sldId id="281" r:id="rId7"/>
    <p:sldId id="279" r:id="rId8"/>
    <p:sldId id="270" r:id="rId9"/>
    <p:sldId id="271" r:id="rId10"/>
    <p:sldId id="272" r:id="rId11"/>
    <p:sldId id="273" r:id="rId12"/>
    <p:sldId id="276" r:id="rId13"/>
    <p:sldId id="278" r:id="rId14"/>
    <p:sldId id="260" r:id="rId15"/>
    <p:sldId id="274" r:id="rId16"/>
    <p:sldId id="275" r:id="rId17"/>
    <p:sldId id="261" r:id="rId18"/>
    <p:sldId id="262" r:id="rId19"/>
    <p:sldId id="282" r:id="rId20"/>
    <p:sldId id="263" r:id="rId21"/>
    <p:sldId id="264" r:id="rId22"/>
    <p:sldId id="265" r:id="rId23"/>
    <p:sldId id="280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42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pl-PL" dirty="0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pl-PL" dirty="0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647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78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25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45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053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49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11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65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26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90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  <a:latin typeface="Segoe Pro" panose="020F0502020204030204" pitchFamily="34" charset="0"/>
              </a:defRPr>
            </a:lvl1pPr>
          </a:lstStyle>
          <a:p>
            <a:fld id="{5BCAD085-E8A6-8845-BD4E-CB4CCA059FC4}" type="datetimeFigureOut">
              <a:rPr lang="en-US" smtClean="0"/>
              <a:pPr/>
              <a:t>8/30/2025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  <a:latin typeface="Segoe Pro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Segoe Pro" panose="020F0502020204030204" pitchFamily="34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4173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a 4">
            <a:extLst>
              <a:ext uri="{FF2B5EF4-FFF2-40B4-BE49-F238E27FC236}">
                <a16:creationId xmlns:a16="http://schemas.microsoft.com/office/drawing/2014/main" id="{F42A310B-C839-BEBF-D4EF-5F8D9F1F3D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5607" y="959860"/>
            <a:ext cx="3652217" cy="24691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Rail</a:t>
            </a:r>
            <a:r>
              <a:rPr lang="pl-PL" dirty="0"/>
              <a:t>WAY</a:t>
            </a:r>
            <a:r>
              <a:rPr dirty="0"/>
              <a:t> Oriented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7732014" cy="1783080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pl-PL" sz="2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Nowoczesna obsługa błędów w języku </a:t>
            </a:r>
            <a:r>
              <a:rPr lang="pl-PL" sz="2600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Python</a:t>
            </a:r>
            <a:r>
              <a:rPr lang="pl-PL" sz="2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przy użyciu... torów :)</a:t>
            </a:r>
          </a:p>
          <a:p>
            <a:pPr>
              <a:lnSpc>
                <a:spcPct val="120000"/>
              </a:lnSpc>
            </a:pPr>
            <a: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Artur Lew,</a:t>
            </a:r>
            <a:b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fr-FR" sz="2900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PyCon</a:t>
            </a:r>
            <a: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PL 2025</a:t>
            </a:r>
            <a:endParaRPr lang="pl-PL" sz="29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>
              <a:lnSpc>
                <a:spcPct val="120000"/>
              </a:lnSpc>
            </a:pPr>
            <a:r>
              <a:rPr lang="pl-PL" sz="23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Gliwice 30.08</a:t>
            </a:r>
            <a:endParaRPr lang="fr-FR" sz="23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endParaRPr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Tematyka na dzisiaj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1. </a:t>
            </a:r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w </a:t>
            </a:r>
            <a:r>
              <a:rPr dirty="0" err="1"/>
              <a:t>Pythonie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innych</a:t>
            </a:r>
            <a:r>
              <a:rPr dirty="0"/>
              <a:t> </a:t>
            </a:r>
            <a:r>
              <a:rPr dirty="0" err="1"/>
              <a:t>językach</a:t>
            </a:r>
            <a:endParaRPr dirty="0"/>
          </a:p>
          <a:p>
            <a:pPr>
              <a:defRPr sz="2000"/>
            </a:pPr>
            <a:r>
              <a:rPr dirty="0"/>
              <a:t>2. </a:t>
            </a:r>
            <a:r>
              <a:rPr dirty="0" err="1"/>
              <a:t>Wprowadzenie</a:t>
            </a:r>
            <a:r>
              <a:rPr dirty="0"/>
              <a:t> do </a:t>
            </a:r>
            <a:r>
              <a:rPr dirty="0" err="1"/>
              <a:t>wzorca</a:t>
            </a:r>
            <a:r>
              <a:rPr dirty="0"/>
              <a:t> ROP</a:t>
            </a:r>
          </a:p>
          <a:p>
            <a:pPr>
              <a:defRPr sz="2000"/>
            </a:pPr>
            <a:r>
              <a:rPr dirty="0"/>
              <a:t>3. </a:t>
            </a:r>
            <a:r>
              <a:rPr dirty="0" err="1"/>
              <a:t>Biblioteka</a:t>
            </a:r>
            <a:r>
              <a:rPr dirty="0"/>
              <a:t> returns</a:t>
            </a:r>
          </a:p>
          <a:p>
            <a:pPr>
              <a:defRPr sz="2000"/>
            </a:pPr>
            <a:r>
              <a:rPr dirty="0"/>
              <a:t>4. ROP w </a:t>
            </a:r>
            <a:r>
              <a:rPr dirty="0" err="1"/>
              <a:t>aplikacjach</a:t>
            </a:r>
            <a:r>
              <a:rPr dirty="0"/>
              <a:t> </a:t>
            </a:r>
            <a:r>
              <a:rPr dirty="0" err="1"/>
              <a:t>synchronicznych</a:t>
            </a:r>
            <a:endParaRPr dirty="0"/>
          </a:p>
          <a:p>
            <a:pPr>
              <a:defRPr sz="2000"/>
            </a:pPr>
            <a:r>
              <a:rPr dirty="0"/>
              <a:t>5. ROP w </a:t>
            </a:r>
            <a:r>
              <a:rPr dirty="0" err="1"/>
              <a:t>aplikacjach</a:t>
            </a:r>
            <a:r>
              <a:rPr dirty="0"/>
              <a:t> </a:t>
            </a:r>
            <a:r>
              <a:rPr dirty="0" err="1"/>
              <a:t>asynchronicznych</a:t>
            </a:r>
            <a:endParaRPr dirty="0"/>
          </a:p>
          <a:p>
            <a:pPr>
              <a:defRPr sz="2000"/>
            </a:pPr>
            <a:r>
              <a:rPr dirty="0"/>
              <a:t>6. </a:t>
            </a:r>
            <a:r>
              <a:rPr dirty="0" err="1"/>
              <a:t>Podsumowanie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w </a:t>
            </a:r>
            <a:r>
              <a:rPr dirty="0" err="1"/>
              <a:t>Pythonie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try/except/finally – </a:t>
            </a:r>
            <a:r>
              <a:rPr dirty="0" err="1"/>
              <a:t>główny</a:t>
            </a:r>
            <a:r>
              <a:rPr dirty="0"/>
              <a:t> </a:t>
            </a:r>
            <a:r>
              <a:rPr dirty="0" err="1"/>
              <a:t>mechanizm</a:t>
            </a:r>
            <a:endParaRPr dirty="0"/>
          </a:p>
          <a:p>
            <a:pPr>
              <a:defRPr sz="2000"/>
            </a:pPr>
            <a:r>
              <a:rPr dirty="0"/>
              <a:t>Styl EAFP (Easier to Ask Forgiveness than Permission)</a:t>
            </a:r>
            <a:endParaRPr lang="pl-PL" dirty="0"/>
          </a:p>
          <a:p>
            <a:pPr>
              <a:defRPr sz="2000"/>
            </a:pPr>
            <a:r>
              <a:rPr lang="pl-PL" dirty="0"/>
              <a:t>Styl </a:t>
            </a:r>
            <a:r>
              <a:rPr lang="en-US" dirty="0"/>
              <a:t>LBYL </a:t>
            </a:r>
            <a:r>
              <a:rPr lang="pl-PL" dirty="0"/>
              <a:t>(</a:t>
            </a:r>
            <a:r>
              <a:rPr lang="en-US" dirty="0"/>
              <a:t>Look Before You Leap</a:t>
            </a:r>
            <a:r>
              <a:rPr lang="pl-PL" dirty="0"/>
              <a:t>)</a:t>
            </a:r>
            <a:endParaRPr dirty="0"/>
          </a:p>
          <a:p>
            <a:pPr>
              <a:defRPr sz="2000"/>
            </a:pPr>
            <a:r>
              <a:rPr dirty="0" err="1"/>
              <a:t>Problemy</a:t>
            </a:r>
            <a:r>
              <a:rPr dirty="0"/>
              <a:t>: </a:t>
            </a:r>
            <a:r>
              <a:rPr dirty="0" err="1"/>
              <a:t>ukryte</a:t>
            </a:r>
            <a:r>
              <a:rPr dirty="0"/>
              <a:t> </a:t>
            </a:r>
            <a:r>
              <a:rPr dirty="0" err="1"/>
              <a:t>wyjątki</a:t>
            </a:r>
            <a:r>
              <a:rPr dirty="0"/>
              <a:t>, </a:t>
            </a:r>
            <a:r>
              <a:rPr dirty="0" err="1"/>
              <a:t>mieszanie</a:t>
            </a:r>
            <a:r>
              <a:rPr dirty="0"/>
              <a:t> </a:t>
            </a:r>
            <a:r>
              <a:rPr dirty="0" err="1"/>
              <a:t>logiki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obsługi</a:t>
            </a:r>
            <a:r>
              <a:rPr dirty="0"/>
              <a:t> </a:t>
            </a:r>
            <a:r>
              <a:rPr dirty="0" err="1"/>
              <a:t>błędów</a:t>
            </a:r>
            <a:endParaRPr lang="pl-PL" dirty="0"/>
          </a:p>
          <a:p>
            <a:r>
              <a:rPr lang="pl-PL" dirty="0"/>
              <a:t>Ukryta dokumentacja: z sygnatury funkcji nie widać, jakie błędy mogą wystąpić.</a:t>
            </a:r>
          </a:p>
          <a:p>
            <a:r>
              <a:rPr lang="pl-PL" dirty="0"/>
              <a:t>Możliwe błędy w stylu: połknięcie wyjątku (</a:t>
            </a:r>
            <a:r>
              <a:rPr lang="pl-PL" dirty="0" err="1"/>
              <a:t>except</a:t>
            </a:r>
            <a:r>
              <a:rPr lang="pl-PL" dirty="0"/>
              <a:t> </a:t>
            </a:r>
            <a:r>
              <a:rPr lang="pl-PL" dirty="0" err="1"/>
              <a:t>Exception</a:t>
            </a:r>
            <a:r>
              <a:rPr lang="pl-PL" dirty="0"/>
              <a:t>: pass), albo zbyt ogólne obsługiwanie błędów.</a:t>
            </a:r>
            <a:br>
              <a:rPr lang="pl-PL" dirty="0"/>
            </a:br>
            <a:endParaRPr lang="pl-PL" dirty="0"/>
          </a:p>
          <a:p>
            <a:pPr>
              <a:defRPr sz="2000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Java/C#: checked exceptions</a:t>
            </a:r>
          </a:p>
          <a:p>
            <a:pPr>
              <a:defRPr sz="2000"/>
            </a:pPr>
            <a:r>
              <a:rPr dirty="0"/>
              <a:t>Go: (result, error)</a:t>
            </a:r>
          </a:p>
          <a:p>
            <a:pPr>
              <a:defRPr sz="2000"/>
            </a:pPr>
            <a:r>
              <a:rPr dirty="0"/>
              <a:t>Rust: Result&lt;T, E&gt;</a:t>
            </a:r>
            <a:endParaRPr lang="pl-PL" dirty="0"/>
          </a:p>
          <a:p>
            <a:pPr>
              <a:defRPr sz="2000"/>
            </a:pPr>
            <a:r>
              <a:rPr lang="pl-PL" dirty="0"/>
              <a:t>Erlang</a:t>
            </a:r>
            <a:endParaRPr dirty="0"/>
          </a:p>
          <a:p>
            <a:pPr>
              <a:defRPr sz="2000"/>
            </a:pPr>
            <a:r>
              <a:rPr dirty="0"/>
              <a:t>Haskell: Maybe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9F5E7-0838-D78B-662E-FAD7D5C07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DD5-7343-DDE6-EDD1-ED0685865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FF607-39B1-E0C5-0881-993163B09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Java</a:t>
            </a:r>
            <a:r>
              <a:rPr lang="pl-PL" dirty="0"/>
              <a:t>/C#</a:t>
            </a:r>
          </a:p>
          <a:p>
            <a:pPr marL="0" indent="0">
              <a:buNone/>
              <a:defRPr sz="2000"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B68B902-CC4F-51C1-C44B-0DF52F9F0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2667437"/>
            <a:ext cx="7416800" cy="19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801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D9CBC-B349-B200-2B83-42FD1DEBD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62A9A-374E-D241-FF1E-5540828F5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51940-0AEB-1AA7-06EA-C2BFB0837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Java</a:t>
            </a:r>
            <a:r>
              <a:rPr lang="pl-PL"/>
              <a:t>/C#</a:t>
            </a:r>
          </a:p>
          <a:p>
            <a:pPr marL="0" indent="0">
              <a:buNone/>
              <a:defRPr sz="2000"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1FA77A83-FC2C-9EEF-3CC4-8A16DBFBF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8433"/>
            <a:ext cx="7943850" cy="4275929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62AC2322-503E-9711-CC8B-D9C65C03AF26}"/>
              </a:ext>
            </a:extLst>
          </p:cNvPr>
          <p:cNvSpPr txBox="1"/>
          <p:nvPr/>
        </p:nvSpPr>
        <p:spPr>
          <a:xfrm>
            <a:off x="2508250" y="1794805"/>
            <a:ext cx="5410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200" dirty="0"/>
              <a:t>Źródło: https://download.java.net/java/early_access/valhalla/docs/api/java.base/java/lang/Exception.html</a:t>
            </a:r>
          </a:p>
        </p:txBody>
      </p:sp>
    </p:spTree>
    <p:extLst>
      <p:ext uri="{BB962C8B-B14F-4D97-AF65-F5344CB8AC3E}">
        <p14:creationId xmlns:p14="http://schemas.microsoft.com/office/powerpoint/2010/main" val="2224506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333D07-B94A-AFBA-ABAF-56ED0D513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Porównanie z innymi językami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271109F-6279-035D-3499-D65123620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Scala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E005828B-F3CB-2D0A-AA55-8D0DF7F01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40" y="2540509"/>
            <a:ext cx="7476420" cy="261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35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C493B-BC86-0628-0DE0-80E22F9EE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14402-4523-C9B6-BBE2-416573D78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Porównanie</a:t>
            </a:r>
            <a:r>
              <a:rPr dirty="0"/>
              <a:t> z </a:t>
            </a:r>
            <a:r>
              <a:rPr dirty="0" err="1"/>
              <a:t>innymi</a:t>
            </a:r>
            <a:r>
              <a:rPr dirty="0"/>
              <a:t> </a:t>
            </a:r>
            <a:r>
              <a:rPr dirty="0" err="1"/>
              <a:t>językami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65C2E-FD7B-EC92-04C8-6CA71A412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 sz="2000"/>
            </a:pPr>
            <a:r>
              <a:rPr dirty="0"/>
              <a:t>Go</a:t>
            </a:r>
            <a:r>
              <a:rPr lang="pl-PL" dirty="0"/>
              <a:t> ➡️ Brak wyjątków, zwracanie (</a:t>
            </a:r>
            <a:r>
              <a:rPr lang="pl-PL" dirty="0" err="1"/>
              <a:t>value</a:t>
            </a:r>
            <a:r>
              <a:rPr lang="pl-PL" dirty="0"/>
              <a:t>, error) – jawne i proste.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CEF3351-8539-A25F-ED83-0C9B0C93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50" y="2632471"/>
            <a:ext cx="7289800" cy="325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729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6E524-3AED-B784-EBEE-5DF75F7A9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D6C6E-7156-8BFD-A4D8-2422ADE92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3C093-E8E3-F213-D033-C983C8598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Rust</a:t>
            </a:r>
            <a:r>
              <a:rPr lang="pl-PL" dirty="0"/>
              <a:t> ➡️ </a:t>
            </a:r>
            <a:r>
              <a:rPr lang="pl-PL" dirty="0" err="1"/>
              <a:t>Result</a:t>
            </a:r>
            <a:r>
              <a:rPr lang="pl-PL" dirty="0"/>
              <a:t>&lt;T, E&gt;, wymusza jawne obsłużenie błędów.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B51C72A-33C5-01B0-38D9-56901DBCF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51" y="2520950"/>
            <a:ext cx="6459400" cy="38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46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E0047A-6714-9835-E34F-01470907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BD27B-59C2-39A6-D7F4-AAC7187CD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DFD3A-4571-457C-F4CC-1B30338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pl-PL" dirty="0"/>
              <a:t>Erlang ➡️ </a:t>
            </a:r>
            <a:r>
              <a:rPr lang="pl-PL" dirty="0" err="1"/>
              <a:t>Krotki</a:t>
            </a:r>
            <a:r>
              <a:rPr lang="pl-PL" dirty="0"/>
              <a:t> {ok, Val} | {error, </a:t>
            </a:r>
            <a:r>
              <a:rPr lang="pl-PL" dirty="0" err="1"/>
              <a:t>Reason</a:t>
            </a:r>
            <a:r>
              <a:rPr lang="pl-PL" dirty="0"/>
              <a:t>}, brak klasycznych wyjątków.</a:t>
            </a:r>
          </a:p>
          <a:p>
            <a:pPr marL="0" indent="0">
              <a:buNone/>
            </a:pPr>
            <a:endParaRPr lang="pl-PL" dirty="0" err="1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F3A36AC-F05D-8192-5046-A485451AC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876550"/>
            <a:ext cx="7665319" cy="22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4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8D225A-12CE-7471-D01A-2726DE10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4FAA-D246-093E-370F-BFFFDA0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54573-4FDE-EF71-AE8E-1D26CDA93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pl-PL" dirty="0" err="1"/>
              <a:t>Haskell</a:t>
            </a:r>
            <a:r>
              <a:rPr lang="pl-PL" dirty="0"/>
              <a:t> - </a:t>
            </a:r>
            <a:r>
              <a:rPr lang="pl-PL" dirty="0" err="1"/>
              <a:t>Either</a:t>
            </a:r>
            <a:r>
              <a:rPr lang="pl-PL" dirty="0"/>
              <a:t> e a, czysto funkcyjne podejście.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EB28054-156A-07C3-FE9F-EF9635D71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96" y="2652466"/>
            <a:ext cx="6395131" cy="266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004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B2F24E-71A6-55BB-764E-5CD753AFB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Najbardziej eleganckie rozwiązanie?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999961D-CDE3-3FC4-5F42-4BDB1E7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Rust</a:t>
            </a:r>
            <a:r>
              <a:rPr lang="pl-PL" dirty="0"/>
              <a:t> / </a:t>
            </a:r>
            <a:r>
              <a:rPr lang="pl-PL" dirty="0" err="1"/>
              <a:t>Haskell</a:t>
            </a:r>
            <a:r>
              <a:rPr lang="pl-PL" dirty="0"/>
              <a:t> / Erlang – bo wymuszają jawne błędy w typach (</a:t>
            </a:r>
            <a:r>
              <a:rPr lang="pl-PL" dirty="0" err="1"/>
              <a:t>Result</a:t>
            </a:r>
            <a:r>
              <a:rPr lang="pl-PL" dirty="0"/>
              <a:t>, </a:t>
            </a:r>
            <a:r>
              <a:rPr lang="pl-PL" dirty="0" err="1"/>
              <a:t>Either</a:t>
            </a:r>
            <a:r>
              <a:rPr lang="pl-PL" dirty="0"/>
              <a:t>, </a:t>
            </a:r>
            <a:r>
              <a:rPr lang="pl-PL" dirty="0" err="1"/>
              <a:t>krotki</a:t>
            </a:r>
            <a:r>
              <a:rPr lang="pl-PL" dirty="0"/>
              <a:t>).</a:t>
            </a:r>
          </a:p>
          <a:p>
            <a:r>
              <a:rPr lang="pl-PL" dirty="0"/>
              <a:t>Go jest prosty, ale powtarzalny („error </a:t>
            </a:r>
            <a:r>
              <a:rPr lang="pl-PL" dirty="0" err="1"/>
              <a:t>handling</a:t>
            </a:r>
            <a:r>
              <a:rPr lang="pl-PL" dirty="0"/>
              <a:t> </a:t>
            </a:r>
            <a:r>
              <a:rPr lang="pl-PL" dirty="0" err="1"/>
              <a:t>boilerplate</a:t>
            </a:r>
            <a:r>
              <a:rPr lang="pl-PL" dirty="0"/>
              <a:t>”).</a:t>
            </a:r>
          </a:p>
          <a:p>
            <a:r>
              <a:rPr lang="pl-PL" dirty="0"/>
              <a:t>Java / C# mają ukryte wyjątki 👉mniej przewidywalne.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6592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B9CD8D8-4B37-58BD-F2D3-804EC87C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Co to jest monada?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3B2F86-53F8-9F1F-CED7-9E8B342EF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dirty="0"/>
              <a:t>Monada to wzorzec abstrakcyjny w programowaniu funkcyjnym.</a:t>
            </a:r>
          </a:p>
          <a:p>
            <a:r>
              <a:rPr lang="pl-PL" dirty="0"/>
              <a:t>Definiuje sposób łączenia obliczeń sekwencyjnie, z zachowaniem kontekstu (np. błędu, listy, IO).</a:t>
            </a:r>
          </a:p>
          <a:p>
            <a:r>
              <a:rPr lang="pl-PL" dirty="0"/>
              <a:t>Składa się z:</a:t>
            </a:r>
          </a:p>
          <a:p>
            <a:pPr lvl="1"/>
            <a:r>
              <a:rPr lang="pl-PL" dirty="0"/>
              <a:t>unit / return – pakuje wartość w monadę.</a:t>
            </a:r>
          </a:p>
          <a:p>
            <a:pPr lvl="1"/>
            <a:r>
              <a:rPr lang="pl-PL" dirty="0"/>
              <a:t>bind (&gt;&gt;=) – łączy funkcje zwracające monady w łańcuch.</a:t>
            </a:r>
          </a:p>
          <a:p>
            <a:r>
              <a:rPr lang="pl-PL" dirty="0"/>
              <a:t>Przykłady:</a:t>
            </a:r>
          </a:p>
          <a:p>
            <a:pPr lvl="1"/>
            <a:r>
              <a:rPr lang="pl-PL" dirty="0" err="1"/>
              <a:t>Maybe</a:t>
            </a:r>
            <a:r>
              <a:rPr lang="pl-PL" dirty="0"/>
              <a:t> – reprezentuje wartość lub brak.</a:t>
            </a:r>
          </a:p>
          <a:p>
            <a:pPr lvl="1"/>
            <a:r>
              <a:rPr lang="pl-PL" dirty="0" err="1"/>
              <a:t>Result</a:t>
            </a:r>
            <a:r>
              <a:rPr lang="pl-PL" dirty="0"/>
              <a:t> / </a:t>
            </a:r>
            <a:r>
              <a:rPr lang="pl-PL" dirty="0" err="1"/>
              <a:t>Either</a:t>
            </a:r>
            <a:r>
              <a:rPr lang="pl-PL" dirty="0"/>
              <a:t> – reprezentuje sukces lub błąd.</a:t>
            </a:r>
          </a:p>
          <a:p>
            <a:pPr lvl="1"/>
            <a:r>
              <a:rPr lang="pl-PL" dirty="0"/>
              <a:t>IO – obliczenia z efektami ubocznymi.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22528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Rail</a:t>
            </a:r>
            <a:r>
              <a:rPr lang="pl-PL" dirty="0"/>
              <a:t>WAY</a:t>
            </a:r>
            <a:r>
              <a:rPr dirty="0"/>
              <a:t> Oriented Programming (ROP)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2000"/>
            </a:pPr>
            <a:r>
              <a:rPr dirty="0" err="1"/>
              <a:t>Metafora</a:t>
            </a:r>
            <a:r>
              <a:rPr dirty="0"/>
              <a:t> </a:t>
            </a:r>
            <a:r>
              <a:rPr dirty="0" err="1"/>
              <a:t>torów</a:t>
            </a:r>
            <a:r>
              <a:rPr dirty="0"/>
              <a:t> </a:t>
            </a:r>
            <a:r>
              <a:rPr dirty="0" err="1"/>
              <a:t>kolejowych</a:t>
            </a:r>
            <a:endParaRPr lang="pl-PL" dirty="0"/>
          </a:p>
          <a:p>
            <a:pPr>
              <a:defRPr sz="2000"/>
            </a:pPr>
            <a:r>
              <a:rPr lang="pl-PL" dirty="0"/>
              <a:t>Dwa tory – jeden dla poprawnych wartości, drugi dla błędów</a:t>
            </a:r>
          </a:p>
          <a:p>
            <a:pPr>
              <a:defRPr sz="2000"/>
            </a:pPr>
            <a:r>
              <a:rPr lang="pl-PL" dirty="0"/>
              <a:t>Funkcje transformujące – każda funkcja przyjmuje wartość z toru sukcesu i zwraca wynik na tor sukcesu lub przełącza na tor błędu.</a:t>
            </a:r>
          </a:p>
          <a:p>
            <a:pPr>
              <a:defRPr sz="2000"/>
            </a:pPr>
            <a:r>
              <a:rPr lang="pl-PL" dirty="0"/>
              <a:t>Łańcuchy operacji – funkcje można łączyć (</a:t>
            </a:r>
            <a:r>
              <a:rPr lang="pl-PL" dirty="0" err="1"/>
              <a:t>pipe</a:t>
            </a:r>
            <a:r>
              <a:rPr lang="pl-PL" dirty="0"/>
              <a:t>/</a:t>
            </a:r>
            <a:r>
              <a:rPr lang="pl-PL" dirty="0" err="1"/>
              <a:t>chain</a:t>
            </a:r>
            <a:r>
              <a:rPr lang="pl-PL" dirty="0"/>
              <a:t>), a przepływ sam wybiera odpowiedni tor.</a:t>
            </a:r>
          </a:p>
          <a:p>
            <a:pPr>
              <a:defRPr sz="2000"/>
            </a:pPr>
            <a:r>
              <a:rPr lang="pl-PL" dirty="0"/>
              <a:t>Brak wyjątków runtime – zamiast </a:t>
            </a:r>
            <a:r>
              <a:rPr lang="pl-PL" dirty="0" err="1"/>
              <a:t>try</a:t>
            </a:r>
            <a:r>
              <a:rPr lang="pl-PL" dirty="0"/>
              <a:t>/</a:t>
            </a:r>
            <a:r>
              <a:rPr lang="pl-PL" dirty="0" err="1"/>
              <a:t>except</a:t>
            </a:r>
            <a:r>
              <a:rPr lang="pl-PL" dirty="0"/>
              <a:t>, błędy są jawne i obsługiwane w przepływie danych.</a:t>
            </a:r>
          </a:p>
          <a:p>
            <a:pPr>
              <a:defRPr sz="2000"/>
            </a:pPr>
            <a:r>
              <a:rPr lang="pl-PL" dirty="0"/>
              <a:t>Kompozycja – logika biznesowa budowana jest z małych funkcji, które można łatwo komponować.</a:t>
            </a:r>
          </a:p>
          <a:p>
            <a:pPr>
              <a:defRPr sz="2000"/>
            </a:pPr>
            <a:r>
              <a:rPr lang="pl-PL" dirty="0"/>
              <a:t>Deklaratywność – opisujemy co się dzieje, a nie jak łapać wyjątki.</a:t>
            </a:r>
          </a:p>
          <a:p>
            <a:pPr>
              <a:defRPr sz="2000"/>
            </a:pPr>
            <a:r>
              <a:rPr lang="pl-PL" dirty="0"/>
              <a:t>Przewidywalność – błędy nie „wyskakują” znikąd, są elementem kontraktu funkcji.</a:t>
            </a:r>
          </a:p>
          <a:p>
            <a:pPr>
              <a:defRPr sz="2000"/>
            </a:pPr>
            <a:r>
              <a:rPr lang="pl-PL" dirty="0"/>
              <a:t>Inspiracja funkcyjna – wzorzec pochodzi z F#, </a:t>
            </a:r>
            <a:r>
              <a:rPr lang="pl-PL" dirty="0" err="1"/>
              <a:t>Haskella</a:t>
            </a:r>
            <a:r>
              <a:rPr lang="pl-PL" dirty="0"/>
              <a:t> i monad.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FA0BC-6E20-8EBB-E9C4-1BD377439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Zalety ROP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1C497A7-FE1A-45A5-E164-BD2FE10C1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Łatwiejsza kompozycja funkcji.</a:t>
            </a:r>
          </a:p>
          <a:p>
            <a:r>
              <a:rPr lang="pl-PL" dirty="0"/>
              <a:t>Błędy obsługiwane jawnie, brak ukrytych wyjątków.</a:t>
            </a:r>
          </a:p>
          <a:p>
            <a:r>
              <a:rPr lang="pl-PL" dirty="0"/>
              <a:t>Kod bardziej przewidywalny i testowalny.</a:t>
            </a:r>
          </a:p>
          <a:p>
            <a:r>
              <a:rPr lang="pl-PL" dirty="0"/>
              <a:t>Umożliwia pisanie bardziej funkcyjnego </a:t>
            </a:r>
            <a:r>
              <a:rPr lang="pl-PL" dirty="0" err="1"/>
              <a:t>Pythona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4054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048ECB3-F0AE-9D71-1DFE-9F75CA6F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Wady RO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C3B1F5-8E91-89BA-7745-72CE7F450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Większa „ceremonia” w prostych przypadkach.</a:t>
            </a:r>
          </a:p>
          <a:p>
            <a:r>
              <a:rPr lang="pl-PL" dirty="0"/>
              <a:t>Wymaga zmiany sposobu myślenia (nieintuicyjne dla programistów OOP).</a:t>
            </a:r>
          </a:p>
          <a:p>
            <a:r>
              <a:rPr lang="pl-PL" dirty="0"/>
              <a:t>Trudniejsze debugowanie, jeśli ktoś nie zna koncepcji.</a:t>
            </a:r>
          </a:p>
          <a:p>
            <a:r>
              <a:rPr lang="pl-PL" dirty="0" err="1"/>
              <a:t>Python</a:t>
            </a:r>
            <a:r>
              <a:rPr lang="pl-PL" dirty="0"/>
              <a:t> nie wspiera tego natywnie, potrzebne biblioteki (np. </a:t>
            </a:r>
            <a:r>
              <a:rPr lang="pl-PL" dirty="0" err="1"/>
              <a:t>returns</a:t>
            </a:r>
            <a:r>
              <a:rPr lang="pl-PL" dirty="0"/>
              <a:t>).</a:t>
            </a:r>
          </a:p>
          <a:p>
            <a:r>
              <a:rPr lang="pl-PL" dirty="0"/>
              <a:t>Opakowanie kosztuje 😉</a:t>
            </a:r>
          </a:p>
        </p:txBody>
      </p:sp>
    </p:spTree>
    <p:extLst>
      <p:ext uri="{BB962C8B-B14F-4D97-AF65-F5344CB8AC3E}">
        <p14:creationId xmlns:p14="http://schemas.microsoft.com/office/powerpoint/2010/main" val="1533517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Biblioteka returns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pl-PL" dirty="0"/>
              <a:t>Implementuje monadyczne podejście znane z języków funkcyjnych w </a:t>
            </a:r>
            <a:r>
              <a:rPr lang="pl-PL" dirty="0" err="1"/>
              <a:t>Pythonie</a:t>
            </a:r>
            <a:r>
              <a:rPr lang="pl-PL" dirty="0"/>
              <a:t>.</a:t>
            </a:r>
          </a:p>
          <a:p>
            <a:r>
              <a:rPr lang="pl-PL" dirty="0"/>
              <a:t>Główne typy:</a:t>
            </a:r>
          </a:p>
          <a:p>
            <a:pPr lvl="1"/>
            <a:r>
              <a:rPr lang="pl-PL" dirty="0" err="1"/>
              <a:t>Result</a:t>
            </a:r>
            <a:r>
              <a:rPr lang="pl-PL" dirty="0"/>
              <a:t>[a, b] – sukces (</a:t>
            </a:r>
            <a:r>
              <a:rPr lang="pl-PL" dirty="0" err="1"/>
              <a:t>Success</a:t>
            </a:r>
            <a:r>
              <a:rPr lang="pl-PL" dirty="0"/>
              <a:t>) lub błąd (</a:t>
            </a:r>
            <a:r>
              <a:rPr lang="pl-PL" dirty="0" err="1"/>
              <a:t>Failure</a:t>
            </a:r>
            <a:r>
              <a:rPr lang="pl-PL" dirty="0"/>
              <a:t>).</a:t>
            </a:r>
          </a:p>
          <a:p>
            <a:pPr lvl="1"/>
            <a:r>
              <a:rPr lang="pl-PL" dirty="0" err="1"/>
              <a:t>Maybe</a:t>
            </a:r>
            <a:r>
              <a:rPr lang="pl-PL" dirty="0"/>
              <a:t>[a] – </a:t>
            </a:r>
            <a:r>
              <a:rPr lang="pl-PL" dirty="0" err="1"/>
              <a:t>Some</a:t>
            </a:r>
            <a:r>
              <a:rPr lang="pl-PL" dirty="0"/>
              <a:t> lub </a:t>
            </a:r>
            <a:r>
              <a:rPr lang="pl-PL" dirty="0" err="1"/>
              <a:t>Nothing</a:t>
            </a:r>
            <a:r>
              <a:rPr lang="pl-PL" dirty="0"/>
              <a:t>.</a:t>
            </a:r>
          </a:p>
          <a:p>
            <a:pPr lvl="1"/>
            <a:r>
              <a:rPr lang="pl-PL" dirty="0"/>
              <a:t>IO, </a:t>
            </a:r>
            <a:r>
              <a:rPr lang="pl-PL" dirty="0" err="1"/>
              <a:t>FutureResult</a:t>
            </a:r>
            <a:r>
              <a:rPr lang="pl-PL" dirty="0"/>
              <a:t>, </a:t>
            </a:r>
            <a:r>
              <a:rPr lang="pl-PL" dirty="0" err="1"/>
              <a:t>RequiresContext</a:t>
            </a:r>
            <a:r>
              <a:rPr lang="pl-PL" dirty="0"/>
              <a:t>.</a:t>
            </a:r>
          </a:p>
          <a:p>
            <a:r>
              <a:rPr lang="pl-PL" dirty="0"/>
              <a:t>Funkcje: map, bind, alt, </a:t>
            </a:r>
            <a:r>
              <a:rPr lang="pl-PL" dirty="0" err="1"/>
              <a:t>unwrap_or</a:t>
            </a:r>
            <a:r>
              <a:rPr lang="pl-PL" dirty="0"/>
              <a:t>, </a:t>
            </a:r>
            <a:r>
              <a:rPr lang="pl-PL" dirty="0" err="1"/>
              <a:t>failure</a:t>
            </a:r>
            <a:r>
              <a:rPr lang="pl-PL" dirty="0"/>
              <a:t>(), itd.</a:t>
            </a:r>
          </a:p>
          <a:p>
            <a:r>
              <a:rPr lang="pl-PL" dirty="0"/>
              <a:t>Bezpieczne i przewidywalne API.</a:t>
            </a:r>
          </a:p>
          <a:p>
            <a:r>
              <a:rPr lang="pl-PL" dirty="0"/>
              <a:t>Zgodność z ROP (Railway </a:t>
            </a:r>
            <a:r>
              <a:rPr lang="pl-PL" dirty="0" err="1"/>
              <a:t>Oriented</a:t>
            </a:r>
            <a:r>
              <a:rPr lang="pl-PL" dirty="0"/>
              <a:t> Programming).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synchroniczny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58B81337-EECF-9EAC-14F9-69DB27E760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65006" y="1784349"/>
            <a:ext cx="7015344" cy="42563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3DBCF-C001-35A5-0B26-16F81AC7B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1287E-2F83-9A33-B2CE-D83412CCC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synchroniczny</a:t>
            </a:r>
          </a:p>
        </p:txBody>
      </p:sp>
      <p:pic>
        <p:nvPicPr>
          <p:cNvPr id="7" name="Symbol zastępczy zawartości 6">
            <a:extLst>
              <a:ext uri="{FF2B5EF4-FFF2-40B4-BE49-F238E27FC236}">
                <a16:creationId xmlns:a16="http://schemas.microsoft.com/office/drawing/2014/main" id="{89378CBA-3372-7217-7742-B6000CB50F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63776"/>
            <a:ext cx="7467600" cy="4765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913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asynchroniczny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F3008893-4A2B-23AD-9307-194D9AD019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15309" y="2120900"/>
            <a:ext cx="6513382" cy="4051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Podsumowanie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 err="1"/>
              <a:t>Wyjątki</a:t>
            </a:r>
            <a:r>
              <a:rPr dirty="0"/>
              <a:t> w </a:t>
            </a:r>
            <a:r>
              <a:rPr dirty="0" err="1"/>
              <a:t>Pythonie</a:t>
            </a:r>
            <a:r>
              <a:rPr dirty="0"/>
              <a:t> </a:t>
            </a:r>
            <a:r>
              <a:rPr dirty="0" err="1"/>
              <a:t>są</a:t>
            </a:r>
            <a:r>
              <a:rPr dirty="0"/>
              <a:t> </a:t>
            </a:r>
            <a:r>
              <a:rPr dirty="0" err="1"/>
              <a:t>elastyczne</a:t>
            </a:r>
            <a:r>
              <a:rPr dirty="0"/>
              <a:t>, ale </a:t>
            </a:r>
            <a:r>
              <a:rPr dirty="0" err="1"/>
              <a:t>mniej</a:t>
            </a:r>
            <a:r>
              <a:rPr dirty="0"/>
              <a:t> </a:t>
            </a:r>
            <a:r>
              <a:rPr dirty="0" err="1"/>
              <a:t>przewidywalne</a:t>
            </a:r>
            <a:endParaRPr dirty="0"/>
          </a:p>
          <a:p>
            <a:pPr>
              <a:defRPr sz="2000"/>
            </a:pPr>
            <a:r>
              <a:rPr dirty="0"/>
              <a:t>ROP = </a:t>
            </a:r>
            <a:r>
              <a:rPr dirty="0" err="1"/>
              <a:t>jawna</a:t>
            </a:r>
            <a:r>
              <a:rPr dirty="0"/>
              <a:t> </a:t>
            </a:r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</a:t>
            </a:r>
            <a:r>
              <a:rPr dirty="0" err="1"/>
              <a:t>przez</a:t>
            </a:r>
            <a:r>
              <a:rPr dirty="0"/>
              <a:t> </a:t>
            </a:r>
            <a:r>
              <a:rPr dirty="0" err="1"/>
              <a:t>typy</a:t>
            </a:r>
            <a:r>
              <a:rPr dirty="0"/>
              <a:t> </a:t>
            </a:r>
            <a:r>
              <a:rPr dirty="0" err="1"/>
              <a:t>wynikowe</a:t>
            </a:r>
            <a:endParaRPr dirty="0"/>
          </a:p>
          <a:p>
            <a:pPr>
              <a:defRPr sz="2000"/>
            </a:pPr>
            <a:r>
              <a:rPr dirty="0" err="1"/>
              <a:t>Biblioteka</a:t>
            </a:r>
            <a:r>
              <a:rPr dirty="0"/>
              <a:t> returns </a:t>
            </a:r>
            <a:r>
              <a:rPr dirty="0" err="1"/>
              <a:t>implementuje</a:t>
            </a:r>
            <a:r>
              <a:rPr dirty="0"/>
              <a:t> </a:t>
            </a:r>
            <a:r>
              <a:rPr dirty="0" err="1"/>
              <a:t>monady</a:t>
            </a:r>
            <a:r>
              <a:rPr dirty="0"/>
              <a:t> </a:t>
            </a:r>
            <a:r>
              <a:rPr dirty="0" err="1"/>
              <a:t>funkcyjne</a:t>
            </a:r>
            <a:endParaRPr dirty="0"/>
          </a:p>
          <a:p>
            <a:pPr>
              <a:defRPr sz="2000"/>
            </a:pPr>
            <a:r>
              <a:rPr dirty="0" err="1"/>
              <a:t>Czytelny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skalowalny</a:t>
            </a:r>
            <a:r>
              <a:rPr dirty="0"/>
              <a:t> </a:t>
            </a:r>
            <a:r>
              <a:rPr dirty="0" err="1"/>
              <a:t>kod</a:t>
            </a:r>
            <a:r>
              <a:rPr dirty="0"/>
              <a:t> </a:t>
            </a:r>
            <a:r>
              <a:rPr dirty="0" err="1"/>
              <a:t>biznesowy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3000"/>
            <a:lum/>
          </a:blip>
          <a:srcRect/>
          <a:stretch>
            <a:fillRect l="-16000" t="-9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>
            <a:extLst>
              <a:ext uri="{FF2B5EF4-FFF2-40B4-BE49-F238E27FC236}">
                <a16:creationId xmlns:a16="http://schemas.microsoft.com/office/drawing/2014/main" id="{A8DFB3E6-7CFF-47F1-37CE-7D4BA75D64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l-PL" sz="6600" dirty="0"/>
              <a:t>Q&amp;A…</a:t>
            </a:r>
            <a:br>
              <a:rPr lang="pl-PL" sz="6600" dirty="0"/>
            </a:b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0853890-6B57-E326-DA01-8B3B017502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endParaRPr lang="pl-PL" sz="4800" dirty="0"/>
          </a:p>
        </p:txBody>
      </p:sp>
    </p:spTree>
    <p:extLst>
      <p:ext uri="{BB962C8B-B14F-4D97-AF65-F5344CB8AC3E}">
        <p14:creationId xmlns:p14="http://schemas.microsoft.com/office/powerpoint/2010/main" val="3069540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9C36E-C8C9-572E-9CB5-8DDE3FFE4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>
            <a:extLst>
              <a:ext uri="{FF2B5EF4-FFF2-40B4-BE49-F238E27FC236}">
                <a16:creationId xmlns:a16="http://schemas.microsoft.com/office/drawing/2014/main" id="{A477409E-E13B-BCC3-3FEC-57CAD2DA74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l-PL" sz="6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Dziękuję za uwagę</a:t>
            </a:r>
            <a:r>
              <a:rPr lang="pl-PL" sz="6600" dirty="0"/>
              <a:t> 😁</a:t>
            </a:r>
            <a:endParaRPr lang="pl-PL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C9B8850-BA5E-3F94-8F72-25EEE6AC6D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endParaRPr lang="pl-PL" sz="4800" dirty="0"/>
          </a:p>
        </p:txBody>
      </p:sp>
      <p:pic>
        <p:nvPicPr>
          <p:cNvPr id="4" name="Grafika 3">
            <a:extLst>
              <a:ext uri="{FF2B5EF4-FFF2-40B4-BE49-F238E27FC236}">
                <a16:creationId xmlns:a16="http://schemas.microsoft.com/office/drawing/2014/main" id="{DDDE5A86-F4B4-688F-9AE9-02205F0FA9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813" y="4518374"/>
            <a:ext cx="1881188" cy="1881188"/>
          </a:xfrm>
          <a:prstGeom prst="rect">
            <a:avLst/>
          </a:prstGeom>
        </p:spPr>
      </p:pic>
      <p:cxnSp>
        <p:nvCxnSpPr>
          <p:cNvPr id="2" name="Łącznik: zakrzywiony 1">
            <a:extLst>
              <a:ext uri="{FF2B5EF4-FFF2-40B4-BE49-F238E27FC236}">
                <a16:creationId xmlns:a16="http://schemas.microsoft.com/office/drawing/2014/main" id="{AB2220FC-8DDF-810D-02CD-8791DB5DC57C}"/>
              </a:ext>
            </a:extLst>
          </p:cNvPr>
          <p:cNvCxnSpPr>
            <a:cxnSpLocks/>
          </p:cNvCxnSpPr>
          <p:nvPr/>
        </p:nvCxnSpPr>
        <p:spPr>
          <a:xfrm rot="10800000">
            <a:off x="2679700" y="5764166"/>
            <a:ext cx="1016000" cy="406400"/>
          </a:xfrm>
          <a:prstGeom prst="curvedConnector3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F705A63D-05D5-443D-5637-AA6EA09E7563}"/>
              </a:ext>
            </a:extLst>
          </p:cNvPr>
          <p:cNvSpPr txBox="1"/>
          <p:nvPr/>
        </p:nvSpPr>
        <p:spPr>
          <a:xfrm>
            <a:off x="3968750" y="6089650"/>
            <a:ext cx="2592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Psss</a:t>
            </a:r>
            <a:r>
              <a:rPr lang="pl-PL" dirty="0"/>
              <a:t>, kod źródłowy 👌</a:t>
            </a:r>
          </a:p>
        </p:txBody>
      </p:sp>
    </p:spTree>
    <p:extLst>
      <p:ext uri="{BB962C8B-B14F-4D97-AF65-F5344CB8AC3E}">
        <p14:creationId xmlns:p14="http://schemas.microsoft.com/office/powerpoint/2010/main" val="29185715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rewniana czcionka">
  <a:themeElements>
    <a:clrScheme name="Drewniana czcionka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Drewniana czcionka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Drewniana czcionka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TM03090434[[fn=Drewniana czcionka]]</Template>
  <TotalTime>1283</TotalTime>
  <Words>742</Words>
  <Application>Microsoft Office PowerPoint</Application>
  <PresentationFormat>Pokaz na ekranie (4:3)</PresentationFormat>
  <Paragraphs>98</Paragraphs>
  <Slides>23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23</vt:i4>
      </vt:variant>
    </vt:vector>
  </HeadingPairs>
  <TitlesOfParts>
    <vt:vector size="28" baseType="lpstr">
      <vt:lpstr>Rockwell Condensed</vt:lpstr>
      <vt:lpstr>Segoe Pro</vt:lpstr>
      <vt:lpstr>Segoe UI Semibold</vt:lpstr>
      <vt:lpstr>Wingdings</vt:lpstr>
      <vt:lpstr>Drewniana czcionka</vt:lpstr>
      <vt:lpstr>RailWAY Oriented Programming</vt:lpstr>
      <vt:lpstr>Tematyka na dzisiaj</vt:lpstr>
      <vt:lpstr>Obsługa błędów w Pythonie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Najbardziej eleganckie rozwiązanie?</vt:lpstr>
      <vt:lpstr>Co to jest monada?</vt:lpstr>
      <vt:lpstr>RailWAY Oriented Programming (ROP)</vt:lpstr>
      <vt:lpstr>Zalety ROP</vt:lpstr>
      <vt:lpstr>Wady RO</vt:lpstr>
      <vt:lpstr>Biblioteka returns</vt:lpstr>
      <vt:lpstr>Przykład synchroniczny</vt:lpstr>
      <vt:lpstr>Przykład synchroniczny</vt:lpstr>
      <vt:lpstr>Przykład asynchroniczny</vt:lpstr>
      <vt:lpstr>Podsumowanie</vt:lpstr>
      <vt:lpstr>Q&amp;A… </vt:lpstr>
      <vt:lpstr>Dziękuję za uwagę 😁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Lew</cp:lastModifiedBy>
  <cp:revision>34</cp:revision>
  <dcterms:created xsi:type="dcterms:W3CDTF">2013-01-27T09:14:16Z</dcterms:created>
  <dcterms:modified xsi:type="dcterms:W3CDTF">2025-08-30T09:15:52Z</dcterms:modified>
  <cp:category/>
</cp:coreProperties>
</file>